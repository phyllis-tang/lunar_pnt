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4e42a5bd040e2" /><Relationship Type="http://schemas.openxmlformats.org/officeDocument/2006/relationships/extended-properties" Target="/docProps/app.xml" Id="R7bf40d20c38f4ceb" /><Relationship Type="http://schemas.openxmlformats.org/officeDocument/2006/relationships/officeDocument" Target="/ppt/presentation.xml" Id="R1561006790d047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3e28ca4ce4779"/>
  </p:sldMasterIdLst>
  <p:notesMasterIdLst>
    <p:notesMasterId xmlns:r="http://schemas.openxmlformats.org/officeDocument/2006/relationships" r:id="R26bae623f8dc461a"/>
  </p:notesMasterIdLst>
  <p:sldIdLst>
    <p:sldId xmlns:r="http://schemas.openxmlformats.org/officeDocument/2006/relationships" id="256" r:id="R644538a497924190"/>
    <p:sldId xmlns:r="http://schemas.openxmlformats.org/officeDocument/2006/relationships" id="257" r:id="Ra554335960cb44fe"/>
    <p:sldId xmlns:r="http://schemas.openxmlformats.org/officeDocument/2006/relationships" id="258" r:id="Rf715db09b72c480d"/>
    <p:sldId xmlns:r="http://schemas.openxmlformats.org/officeDocument/2006/relationships" id="259" r:id="R30a978e128a649dd"/>
    <p:sldId xmlns:r="http://schemas.openxmlformats.org/officeDocument/2006/relationships" id="260" r:id="R9af1f6bfb7f8408d"/>
    <p:sldId xmlns:r="http://schemas.openxmlformats.org/officeDocument/2006/relationships" id="261" r:id="Rba1f63619f054cfd"/>
    <p:sldId xmlns:r="http://schemas.openxmlformats.org/officeDocument/2006/relationships" id="262" r:id="R9dd322d6ca1444e5"/>
    <p:sldId xmlns:r="http://schemas.openxmlformats.org/officeDocument/2006/relationships" id="263" r:id="R75bb671b77a446ff"/>
    <p:sldId xmlns:r="http://schemas.openxmlformats.org/officeDocument/2006/relationships" id="264" r:id="R990d729cad7b4e2c"/>
    <p:sldId xmlns:r="http://schemas.openxmlformats.org/officeDocument/2006/relationships" id="265" r:id="R4f8c44384b7143f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71134bd7a541a1" /><Relationship Type="http://schemas.openxmlformats.org/officeDocument/2006/relationships/slideMaster" Target="/ppt/slideMasters/slideMaster1.xml" Id="R2ea3e28ca4ce4779" /><Relationship Type="http://schemas.openxmlformats.org/officeDocument/2006/relationships/notesMaster" Target="/ppt/notesMasters/notesMaster1.xml" Id="R26bae623f8dc461a" /><Relationship Type="http://schemas.openxmlformats.org/officeDocument/2006/relationships/presProps" Target="/ppt/presProps.xml" Id="R298f7b82e73c41c6" /><Relationship Type="http://schemas.openxmlformats.org/officeDocument/2006/relationships/tableStyles" Target="/ppt/tableStyles.xml" Id="R5d3c29d0d1a4492c" /><Relationship Type="http://schemas.openxmlformats.org/officeDocument/2006/relationships/slide" Target="/ppt/slides/slide1.xml" Id="R644538a497924190" /><Relationship Type="http://schemas.openxmlformats.org/officeDocument/2006/relationships/slide" Target="/ppt/slides/slide2.xml" Id="Ra554335960cb44fe" /><Relationship Type="http://schemas.openxmlformats.org/officeDocument/2006/relationships/slide" Target="/ppt/slides/slide3.xml" Id="Rf715db09b72c480d" /><Relationship Type="http://schemas.openxmlformats.org/officeDocument/2006/relationships/slide" Target="/ppt/slides/slide4.xml" Id="R30a978e128a649dd" /><Relationship Type="http://schemas.openxmlformats.org/officeDocument/2006/relationships/slide" Target="/ppt/slides/slide5.xml" Id="R9af1f6bfb7f8408d" /><Relationship Type="http://schemas.openxmlformats.org/officeDocument/2006/relationships/slide" Target="/ppt/slides/slide6.xml" Id="Rba1f63619f054cfd" /><Relationship Type="http://schemas.openxmlformats.org/officeDocument/2006/relationships/slide" Target="/ppt/slides/slide7.xml" Id="R9dd322d6ca1444e5" /><Relationship Type="http://schemas.openxmlformats.org/officeDocument/2006/relationships/slide" Target="/ppt/slides/slide8.xml" Id="R75bb671b77a446ff" /><Relationship Type="http://schemas.openxmlformats.org/officeDocument/2006/relationships/slide" Target="/ppt/slides/slide9.xml" Id="R990d729cad7b4e2c" /><Relationship Type="http://schemas.openxmlformats.org/officeDocument/2006/relationships/slide" Target="/ppt/slides/slide10.xml" Id="R4f8c44384b71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1b5601654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15be20831487c" /><Relationship Type="http://schemas.openxmlformats.org/officeDocument/2006/relationships/notesMaster" Target="/ppt/notesMasters/notesMaster1.xml" Id="R09b71b041411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df4463e524d49" /><Relationship Type="http://schemas.openxmlformats.org/officeDocument/2006/relationships/notesMaster" Target="/ppt/notesMasters/notesMaster1.xml" Id="R5c233402758d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a9cc2ee7a74a64" /><Relationship Type="http://schemas.openxmlformats.org/officeDocument/2006/relationships/notesMaster" Target="/ppt/notesMasters/notesMaster1.xml" Id="Rf933e3baccd1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dad01e08d94505" /><Relationship Type="http://schemas.openxmlformats.org/officeDocument/2006/relationships/notesMaster" Target="/ppt/notesMasters/notesMaster1.xml" Id="R34557e679ddf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f17879e55047f1" /><Relationship Type="http://schemas.openxmlformats.org/officeDocument/2006/relationships/notesMaster" Target="/ppt/notesMasters/notesMaster1.xml" Id="R6f1daea8cbaf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ce4d9ad12409e" /><Relationship Type="http://schemas.openxmlformats.org/officeDocument/2006/relationships/notesMaster" Target="/ppt/notesMasters/notesMaster1.xml" Id="Rb91670ec7c36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408702a8c48b1" /><Relationship Type="http://schemas.openxmlformats.org/officeDocument/2006/relationships/notesMaster" Target="/ppt/notesMasters/notesMaster1.xml" Id="R88df5ca1ae6d4c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724e3373584e8e" /><Relationship Type="http://schemas.openxmlformats.org/officeDocument/2006/relationships/notesMaster" Target="/ppt/notesMasters/notesMaster1.xml" Id="R70fb866b0c1344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561e475d64c67" /><Relationship Type="http://schemas.openxmlformats.org/officeDocument/2006/relationships/notesMaster" Target="/ppt/notesMasters/notesMaster1.xml" Id="R9f9f344d01f243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f6431de45847af" /><Relationship Type="http://schemas.openxmlformats.org/officeDocument/2006/relationships/notesMaster" Target="/ppt/notesMasters/notesMaster1.xml" Id="R1748d9b27ea3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本页说明汇报主题。本月重点是两辆实体小车的地面验证，不把本月目标描述为已经完成月球导航系统。Template background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左侧来自用户此前的 ROS Car 学习成果。右侧是本月可验证的目标，准确率改善仍需实验数据支持，因此不预设性能提升结论。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推荐架构：硬件驱动在各自车载计算机运行，虚拟机承担 ROS Master、显示、记录和协同融合。车间 UWB 连接表示距离观测，不表示已经获得绝对位置。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第一周不安装 UWB。先排除底盘、雷达、串口和网络问题。虚拟机应使用桥接网络，避免 NAT 导致小车无法回连。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第二周得到的是双车独立定位基线，还不称为协同定位。共享 map，但每辆车保留独立 odom 和 base_link 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第三周先把 UWB 当作独立传感器，不直接并入定位。标定覆盖 LOS、人体遮挡、车体遮挡、静止和运动情况。黄色说明用于避免过度解释单条距离约束。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第四周先用 rosbag 离线实现。方法优先选择集中式 EKF 或小型因子图，避免本月同时引入分布式通信和复杂优化。观测模型表达的是车间距离。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本页定义月底实验矩阵。ATE 和 RPE 只有在获得可靠参考轨迹时才报告；没有真值时应清楚区分内部一致性与绝对精度。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月底成果强调可运行、可测量和可复现，不预先承诺达到某个厘米级精度。四类交付物分别覆盖代码、数据、演示和边界。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后续先完善地面平台，再迁移到 Unreal 月面环境，最后接入稀疏月球卫星测距并讨论 DEM、视觉和 PNT 的互补性。最终论文题目由实际失败模式和实验结果决定。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9fbe50fe3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1f835d25a4229" /><Relationship Type="http://schemas.openxmlformats.org/officeDocument/2006/relationships/slideLayout" Target="/ppt/slideLayouts/slideLayout1.xml" Id="R1498a6fbca6541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8a6fbca6541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656e890e4182" /><Relationship Type="http://schemas.openxmlformats.org/officeDocument/2006/relationships/image" Target="/ppt/media/image.png" Id="R6cd5cdc8d0a944c5" /><Relationship Type="http://schemas.openxmlformats.org/officeDocument/2006/relationships/notesSlide" Target="/ppt/notesSlides/notesSlide1.xml" Id="R53e7ab640e17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946cf120443db" /><Relationship Type="http://schemas.openxmlformats.org/officeDocument/2006/relationships/image" Target="/ppt/media/image2.png" Id="R87db25769e7c4c80" /><Relationship Type="http://schemas.openxmlformats.org/officeDocument/2006/relationships/notesSlide" Target="/ppt/notesSlides/notesSlide2.xml" Id="Raa729376c4f7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c525675504125" /><Relationship Type="http://schemas.openxmlformats.org/officeDocument/2006/relationships/image" Target="/ppt/media/image3.png" Id="R435e4efaff574b03" /><Relationship Type="http://schemas.openxmlformats.org/officeDocument/2006/relationships/notesSlide" Target="/ppt/notesSlides/notesSlide3.xml" Id="Reea529bb4f24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26ad1c6c84929" /><Relationship Type="http://schemas.openxmlformats.org/officeDocument/2006/relationships/image" Target="/ppt/media/image4.png" Id="R0bfe37e32a7241a5" /><Relationship Type="http://schemas.openxmlformats.org/officeDocument/2006/relationships/notesSlide" Target="/ppt/notesSlides/notesSlide4.xml" Id="R227e03664fd9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ac7596be549df" /><Relationship Type="http://schemas.openxmlformats.org/officeDocument/2006/relationships/image" Target="/ppt/media/image5.png" Id="Rcdcdecfbb4e14893" /><Relationship Type="http://schemas.openxmlformats.org/officeDocument/2006/relationships/notesSlide" Target="/ppt/notesSlides/notesSlide5.xml" Id="Rc8eee77829464a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4b151e4cb465b" /><Relationship Type="http://schemas.openxmlformats.org/officeDocument/2006/relationships/image" Target="/ppt/media/image6.png" Id="R5577109b762444f1" /><Relationship Type="http://schemas.openxmlformats.org/officeDocument/2006/relationships/notesSlide" Target="/ppt/notesSlides/notesSlide6.xml" Id="R7e07b2e3e3a14e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127b1d1cb4bd5" /><Relationship Type="http://schemas.openxmlformats.org/officeDocument/2006/relationships/image" Target="/ppt/media/image7.png" Id="R967877e076204223" /><Relationship Type="http://schemas.openxmlformats.org/officeDocument/2006/relationships/notesSlide" Target="/ppt/notesSlides/notesSlide7.xml" Id="R90fcd2f657cf48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9a22860d64da4" /><Relationship Type="http://schemas.openxmlformats.org/officeDocument/2006/relationships/image" Target="/ppt/media/image8.png" Id="Re1f99271ddeb42ba" /><Relationship Type="http://schemas.openxmlformats.org/officeDocument/2006/relationships/notesSlide" Target="/ppt/notesSlides/notesSlide8.xml" Id="Re707a5e0a37147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494696f1f4054" /><Relationship Type="http://schemas.openxmlformats.org/officeDocument/2006/relationships/image" Target="/ppt/media/image9.png" Id="R63a8f44dc4df4ee0" /><Relationship Type="http://schemas.openxmlformats.org/officeDocument/2006/relationships/notesSlide" Target="/ppt/notesSlides/notesSlide9.xml" Id="R8f28ce592b7046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66369d72a4f39" /><Relationship Type="http://schemas.openxmlformats.org/officeDocument/2006/relationships/image" Target="/ppt/media/image10.png" Id="Rb865225987bb4325" /><Relationship Type="http://schemas.openxmlformats.org/officeDocument/2006/relationships/notesSlide" Target="/ppt/notesSlides/notesSlide10.xml" Id="R33339b0e129943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5cdc8d0a944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B215B-1373-4537-882F-89AF5849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59A99-6408-4770-8638-37C1498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15B7F-DDEC-46EE-AD49-BE6C6684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14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C3D3F-9432-4839-98B5-81CEF58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1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深圳研究院月度研究计划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C7F5F-A794-44E0-A6DA-3142324A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Monthly Research Plan at the Shenzhen Research Institute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14BB2-0632-4465-94E2-49612F7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双车协同定位与 UWB 地面验证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45918-88E0-4135-B797-DF842CE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Dual-Robot Cooperative Localization and UWB Ground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AACA2-33CE-4311-A4EB-A67317AC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62575"/>
            <a:ext cx="6858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3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F4511-4458-41C4-84C7-3A3F83D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00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2026年9月  ·  ROS1 Melodic  ·  WHEELTEC ROS Car</a:t>
            </a:r>
          </a:p>
        </p:txBody>
      </p:sp>
    </p:spTree>
    <p:extLst>
      <p:ext uri="{BB962C8B-B14F-4D97-AF65-F5344CB8AC3E}">
        <p14:creationId xmlns:p14="http://schemas.microsoft.com/office/powerpoint/2010/main" val="1298751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b25769e7c4c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7B7E1-BC0F-45A0-AE49-A58974C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C2C31-A820-4F61-AD6C-8308F92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3DDD-D5FA-4126-8670-E1300CE9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AAC4B-11BD-4783-8918-1D9B8B7A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当前基础与本月目标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9AE7B-E459-42A9-A8F5-80AB6A4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 and Monthly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153BA-E8C0-477A-84DB-CA34026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619125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F58A-1106-411E-802C-2B33498B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693420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49A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3A3CA-4F95-411A-AB18-7E7F54E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F10E1-2793-485D-8404-2254D51F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DCBB0-6435-4BA0-ADA9-6653A7D8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080DB-174D-40DA-924E-B4A0A61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单车底盘、SSH 与话题排查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F62C2-CEB2-4341-80F1-283315B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7182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bring-up, SSH and ROS topic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DE7EB-338C-4AE6-884D-74B68350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D7B52-3008-4276-B2C2-0D6B4B6D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48075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激光雷达跟随与二维建图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1928C-00DC-46E8-9A31-A37CEC7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LiDAR following and 2D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50BB2-69FC-49F8-8329-260128B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E9876-0404-4C55-B6C9-FA81AFF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AMCL 单点及多点导航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4163E-2AD0-4501-BD37-693B50B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AMCL localization and waypoint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03C10-8C6C-4155-B67A-7146585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E8EDF-EA44-4700-91D6-D87C7252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91125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串口、TF 与导航故障排查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44395-E7F9-4B62-93C1-8F0A0FD4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864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Serial, TF and navigation troubleshooting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2D5CF-04CE-44A5-BA04-4E881764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80046-4EFA-4633-9646-BC64A35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24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MONTH-END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E2A28-A1D1-41BC-8E95-8C01B78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859CE-B3EE-4240-B302-51E6325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两辆车同时上线且互不干扰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127F68-9FD8-4233-A557-C0265F6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robots online with isolated control and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50861-CEEB-4E8F-97EF-A9522C2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E73A5-C97C-4FA6-9E73-81A2EC3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UWB 测距完成标定和质量分析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F04BC-7F8E-42B8-96A9-D5D4AA6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Calibrated UWB ranging with quality statistics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BBCF37-E0E3-4294-8AFE-450427D7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BB691-A871-4F75-B113-DC111CB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建立独立定位基线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28947-8D56-4487-ADA3-7697DD9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Independent localization baseline for both robots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B725F-9A52-4BBE-BBFC-0606C1F4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A442B-32F8-4438-B873-BC10A84C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完成首个协同定位演示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708EC2-B67F-440D-B477-5A4F55C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8640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First cooperative-localization demonstration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1D6DE-253A-4E9B-B041-48795286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83D482-817F-47B3-8585-2B93B4A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范围控制：本月先完成地面系统闭环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042073-98DB-4A03-949F-07A54C18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Scope: complete the ground-system loop this month</a:t>
            </a:r>
          </a:p>
        </p:txBody>
      </p:sp>
    </p:spTree>
    <p:extLst>
      <p:ext uri="{BB962C8B-B14F-4D97-AF65-F5344CB8AC3E}">
        <p14:creationId xmlns:p14="http://schemas.microsoft.com/office/powerpoint/2010/main" val="15906516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e4efaff574b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DC674-049F-4BAE-8C6B-58684DFA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79800-F945-4353-87F2-63159B2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F060C-634D-4539-B867-811895E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7A09C-A761-4B47-973E-6B00F240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月底系统形态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FCAB3-C5DF-464F-85B8-A99E761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Target System Architecture at Month 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67D86-099E-40BC-98C4-88E5DB3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FB948-6BDF-4369-9F95-984DDD61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虚拟机 / 中心端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33DC4-14FD-4C0E-9535-DF529A0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ROS Master · RViz · rosbag · 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996CA-0DE7-4423-AB3A-0C4CB57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4286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050">
            <a:solidFill>
              <a:srgbClr val="007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D8DE3-16B6-4BDA-8A16-6A36B90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8EE08-5239-4045-B5BC-FF7E7D13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64BF5-611E-4193-B0C0-4D365A7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EDEB1-FE90-4592-BE66-C62975F6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4286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050">
            <a:solidFill>
              <a:srgbClr val="007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1F88E-78AB-46B1-966A-107594D1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1CB7C-5351-4D9C-B0F7-D06645E0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720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6AAA8-8F61-4D4C-94F5-DB346FB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435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cxnSp>
        <p:nvCxnSpPr>
          <p:cNvPr id="4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571875" y="3276600"/>
            <a:ext cx="4048125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8B5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3276600"/>
            <a:ext cx="4048125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8B5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15000" y="533400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60032"/>
            </a:solidFill>
            <a:prstDash val="dash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4C79B-1FD8-489A-921E-D22537F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339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UWB 车间距离 / Inter-robot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BC8CE-3966-4067-9A9A-1120697B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6362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共享 map；两套独立 odom 与 TF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99612-077A-4A36-B662-788169FE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829425"/>
            <a:ext cx="636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map with independent odometry and TF trees</a:t>
            </a:r>
          </a:p>
        </p:txBody>
      </p:sp>
    </p:spTree>
    <p:extLst>
      <p:ext uri="{BB962C8B-B14F-4D97-AF65-F5344CB8AC3E}">
        <p14:creationId xmlns:p14="http://schemas.microsoft.com/office/powerpoint/2010/main" val="4573179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e37e32a7241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0F20F-460D-40E2-93E7-3187807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FA74D-BF33-4EE9-85C6-7DD0C3D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D15C-8520-4582-819C-1116865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82DC0-608C-45B2-8D8D-7D2DAF96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第一周：双车基础与网络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1E965-0F97-4F99-A6F2-9063571D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1: Dual-Robot Bring-up and Networking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2C91B-A982-4DEE-ACC7-533FCF77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20967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E9E55-6E20-4B46-A74D-7639B29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9D7C8-6A6F-49F0-944B-5288C79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4BB63-2808-42C6-ADCA-8F07F3E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669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设备清点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A7A38-D044-4C54-A1FA-78D694B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717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Hardware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5198C-CCD1-470A-96AD-98F8FCE7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84A23-80F7-4B35-9F84-266F2215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32532-7BF4-4B2A-979F-474F062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194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分别复现单车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D119E-F760-447E-B643-0A8146B8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42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Reproduce each robot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AA5A2-59B3-4FEC-A04E-83004946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9A453-61A4-409E-9086-28DDAA7F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14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7E895-A664-439E-B953-1A37C23E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669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桥接网络与固定 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BED50-F475-42D9-B5F6-25D131D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717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Bridged network and static 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407AD-5D6E-4029-BFA0-58F2426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429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B4EBF-D8D1-45BB-ACA3-5C450FC5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467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C8259-39D9-4D2A-997D-05024256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4194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13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公共 ROS Master 与时间同步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98C3A-6270-41AA-A663-CDABAE3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37242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ROS Master and clock 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9E959-D64C-421E-AE2D-29A0C4E6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检查项目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48225-6B6C-449C-81AF-EB1E610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13CC9-8A3E-48BF-BC04-EF0E2F2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底盘、IMU、/odom、/scan 连续发布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BBD03-F710-4194-AB9E-169BC6C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00675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Continuous chassis, IMU, odometry and LiDAR topics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8AA3C-B63C-4AC3-A3A9-25B90E2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E43939-734B-4FEF-80D4-E0622350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340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三台系统相互可达，时间偏差可记录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9ECD2-370A-4829-A339-A8A4DFA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29350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All machines communicate and clock offset is measured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80FBB-878A-48DC-A5C6-F3A8A78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1F9707-A018-43E8-82DD-74DAA7C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5200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保存两份单车基线 rosbag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D5781-A304-4568-BCBC-DBE9C0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Record one baseline rosbag for each robot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F611C5-2030-44D9-8370-5A02803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396FEE-6CB7-4883-A587-2B95186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934075"/>
            <a:ext cx="5200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 IP、串口、频率和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AE5F2B-EDD4-4442-9762-BF19D4A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22935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Document IPs, ports, rates and frame IDs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364512-088D-48EA-BA72-3C51725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8B67D6-A983-45A7-B6F9-9295743F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验收：两辆车均可单独稳定运行 10 分钟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4191E5-E66A-4D9C-BED9-9CC11FA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each robot runs alone for 10 minutes</a:t>
            </a:r>
          </a:p>
        </p:txBody>
      </p:sp>
    </p:spTree>
    <p:extLst>
      <p:ext uri="{BB962C8B-B14F-4D97-AF65-F5344CB8AC3E}">
        <p14:creationId xmlns:p14="http://schemas.microsoft.com/office/powerpoint/2010/main" val="17144848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ecfbb4e148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91716-FA06-44E3-990E-EABEE97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3AB37-9587-44E4-BB73-AF345958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EC21D-95D6-458E-8943-CCB3811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A8E3C-6BBF-474F-B539-FED6211C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第二周：命名空间、TF 与独立定位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D842E-F3E4-44EA-B3E5-1014792A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2: Namespaces, TF and Independent Localization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57151-BB23-4E1D-88A3-8A64F6AC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话题隔离 / TOPIC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3FBAC-CAD0-4E5D-AD81-BEB2016E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6191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969C5-B1ED-4E3F-BFC3-0E1109C4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24175"/>
            <a:ext cx="233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/car1/cmd_vel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/car1/odom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/car1/imu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D05F9-20B1-4954-AB7F-0418567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57500"/>
            <a:ext cx="1905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3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CE435-B41B-4FA4-8D5A-DFD0B906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24175"/>
            <a:ext cx="233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/car2/cmd_vel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/car2/odom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/car2/imu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0F90A-8BBC-4A08-98C7-AE859CC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双 TF 树 / TWO TF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09283-0835-4EC8-A164-56061A87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6191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49A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73B23-DD42-44C8-9F45-902D908E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194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85272-AA0C-4613-8671-F8A5CEE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57550"/>
            <a:ext cx="1905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D3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DD788-5CE3-4C2C-BF56-59B3584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car1/odom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CEA3F-BC68-45E2-92E7-9F738E2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528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car2/odom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72380-0C90-45A1-A78A-9AB8195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190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C42E3-046A-4D01-B340-442021F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200525"/>
            <a:ext cx="190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00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F0D6D-8912-4F3A-B29E-98C93F6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958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car1/base_link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7411B-9BEF-4E95-90EC-C9FB8A18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958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car2/base_link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4CF2C-720E-4575-8BD3-89EEE7F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57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两套 AMCL 在同一地图中独立定位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5E524-B889-4943-B7AA-A3AB53F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AMCL instances localize independently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A2CB5-F94F-4FD4-AFA1-BF8D53F7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7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A1A4D-DF4D-4117-8303-E22DECF6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10300"/>
            <a:ext cx="581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分别发送速度指令，只允许目标车辆响应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032C8-8F2D-4D9C-8102-4A7500BA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05575"/>
            <a:ext cx="581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Command isolation verified for both robots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26562-B2D5-4CD2-A856-2A5A52E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7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1207B-9E14-4314-B8A4-E48E791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210300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同时显示两车轨迹，TF 无冲突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B53E4-71D8-45C5-8B16-2BB98F74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05575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Both trajectories visible in RViz without TF conflicts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7EF65-0B1E-492A-9694-70C9B79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D1959-07DC-46FD-BACF-34BACF60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验收：双车同时运行，任一车辆重启不影响另一辆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D16CC-8AA0-45A4-A019-8A466917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independent operation and restart</a:t>
            </a:r>
          </a:p>
        </p:txBody>
      </p:sp>
    </p:spTree>
    <p:extLst>
      <p:ext uri="{BB962C8B-B14F-4D97-AF65-F5344CB8AC3E}">
        <p14:creationId xmlns:p14="http://schemas.microsoft.com/office/powerpoint/2010/main" val="255651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7109b762444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50D44-99D1-46E2-BEAD-CB3CCE71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51FF-6788-4E17-A7F0-A5B8A971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448C-A4EF-4974-A5DE-D2AD2D0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510C-B9E6-468D-AAC1-27941458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第三周：UWB 接入与标定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623B8-60DB-4C4B-979F-9044AF3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3: UWB Integration and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1FAEE-5F35-4CD0-A231-21C0DD1D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286250" cy="4238625"/>
          </a:xfrm>
          <a:prstGeom xmlns:a="http://schemas.openxmlformats.org/drawingml/2006/main" prst="roundRect">
            <a:avLst>
              <a:gd name="adj" fmla="val 359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DFB19-229D-4F8B-84C3-D98AC9F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接口准备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5406-F3C3-42FF-A9B7-50CE2EC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ABA5C-2B00-4CC9-B71F-186EB83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唯一节点 ID 和固定串口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247C0-38A4-4B7D-BBB4-FAF5A81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86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Unique node IDs and stable device 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98EF6-980E-4301-8897-7C96050A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DF01A-0D1D-449C-BF1E-71134551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7625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带时间戳的距离消息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5915F-CB7F-4B2C-B08D-3E30A80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Timestamped range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7E43F-8738-4D1D-92AC-755C9CE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A7095-A61B-453E-A81D-DC7B437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base_link 到 uwb_link 外参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272D0-A7B7-4426-B769-26D524FD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3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Extrinsic transform from base_link to uwb_link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14E42-EFAE-4E6C-B883-2B8099A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F228C-31ED-4DF9-A80F-DE7E5219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频率、延迟和丢包统计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2998B-DD83-475E-A6F3-C2D3EB9A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864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Rate, latency and packet-loss statistics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40358-086A-4F08-B2DD-F75C82F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标定矩阵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5810250" y="2724150"/>
          <a:ext xmlns:a="http://schemas.openxmlformats.org/drawingml/2006/main" cx="8096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8958"/>
                <a:gridCol w="1799167"/>
                <a:gridCol w="1799167"/>
                <a:gridCol w="2248958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Condition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Moving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无遮挡 / LOS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偏差与标准差</a:t>
                      </a:r>
                    </a:p>
                  </a:txBody>
                  <a:tcPr marL="76200" marR="76200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人体遮挡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异常值比例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车体遮挡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丢包与延迟</a:t>
                      </a:r>
                    </a:p>
                  </a:txBody>
                  <a:tcPr marL="76200" marR="76200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多距离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已知真值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误差模型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85BDE-F38C-4358-AFA8-2A2826B9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96000"/>
            <a:ext cx="8096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E9B6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2164B-5045-4E51-AC58-2DDB68D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912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一条车间距离只能提供一个标量约束，不能单独确定两车的二维位置与航向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EB708-92E0-4CC4-B359-3837FAF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486525"/>
            <a:ext cx="752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3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A single inter-robot range cannot determine both 2D poses and headings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89378-E173-4CE0-92C1-400A61B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06CEA-9935-49A0-BCA8-6609F0A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验收：形成 UWB 误差统计和稳定 ROS 话题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AA7A5-7679-4ED2-A6A1-C77E5B4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calibrated ranging and stable ROS data</a:t>
            </a:r>
          </a:p>
        </p:txBody>
      </p:sp>
    </p:spTree>
    <p:extLst>
      <p:ext uri="{BB962C8B-B14F-4D97-AF65-F5344CB8AC3E}">
        <p14:creationId xmlns:p14="http://schemas.microsoft.com/office/powerpoint/2010/main" val="15122128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877e0762042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57354-E43E-4257-89CA-24F5AFD8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3E6EB-0909-47C4-B0DF-B2CB3AF8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68DEF-C694-4F76-A8F8-E7FE6486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5EE14-5F0E-4DB9-A872-ECD3B8C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第四周：协同融合与在线演示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9F427-3BD1-4305-A9D6-1DDB7B1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4: Cooperative Fusion and Online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4439A-BF0E-43CD-A41A-5C6DAAA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35338-2BB4-4489-A6A1-306869A8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0078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B7745-FB0F-41F1-B795-6D2BECFC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0078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9C2CE-A911-4BC5-BF9D-9447C93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EFF3"/>
          </a:solidFill>
          <a:ln xmlns:a="http://schemas.openxmlformats.org/drawingml/2006/main" w="11430">
            <a:solidFill>
              <a:srgbClr val="B600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3C91D-B8F8-496E-A986-7B59EF61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同步 rosbag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B1A3-C151-424E-9415-E0A8EDC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Synchronized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5B409-2AC6-436E-A87E-8B48D793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离线融合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D23ED-BC0B-4C5E-8499-3D16D439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Offline fusion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EDEB9-2CB5-4677-BEF9-81F178EA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异常值处理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615FC-FC78-4A80-B17C-5F03F04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Outlier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9CB11-1EDE-46AF-8F4B-E86952F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在线节点与演示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E54B7-1422-4D5D-B394-08A1F741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Online node and demo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B5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86625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B5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858500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6003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C300F-E49F-40B6-8DC9-EB626F9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38675"/>
            <a:ext cx="12001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51010-D554-4BF2-9F96-15776F3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观测模型 / Measurement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580A0-BD23-4B00-8DE2-953462C5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48275"/>
            <a:ext cx="4143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z₁₂ = ‖p₁ − p₂‖ + 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D20EF-BF93-4763-96AD-1FE86C8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90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81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3A37E-1DDF-47B1-87A8-25F1EC0C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第一版方法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21D6B-439D-4CEA-BF4D-7915F92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387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集中式 EKF 或小型因子图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先离线复现，再转为实时节点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BAB9B-289C-4D98-8146-95767B9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48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Centralized EKF or a compact factor graph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 offline before real-time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EFA38-B5CB-4353-91DE-01A1A6B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A94D9-BF33-4BD5-96A3-9111601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验收：RViz 实时显示两车轨迹、UWB 距离和融合状态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968F3-9B02-48D7-8BC0-10FA4F6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a repeatable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6311797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99271ddeb42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09F89-3F23-4573-9677-C2AA1DE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E355C-337F-4676-AD35-3F7A016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8856D-51A4-4749-8111-219186D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28C42-893F-43AA-B341-5AD6EA8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实验场景与评价指标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9E42A-AA93-4C9A-A676-3DC3E87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Test Scenarios and Evaluation Metrics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3906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4129"/>
                <a:gridCol w="3352460"/>
                <a:gridCol w="3600790"/>
                <a:gridCol w="3849121"/>
              </a:tblGrid>
              <a:tr h="680357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验证目的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Purpose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对比方法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主要指标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两车静止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robots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UWB 偏差与稳定性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bias and stability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原始与标定后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vs calibrated UWB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均值、标准差、丢包率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Mean, SD, packet loss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一静一动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 robot moving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时间同步与动态延迟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 sync and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里程计、IMU、UWB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Odometry, IMU and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距离残差、延迟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residual,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平行运动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Parallel motion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弱几何下的约束效果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Constraint under weak geometry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独立定位与协同融合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Independent vs cooperative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ATE、RPE、车间误差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ATE, RPE, relative error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Crossing paths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几何变化与在线稳定性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Changing geometry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UWB 与加入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vs with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RMSE、轨迹连续性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RMSE, continuity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遮挡与丢包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Occlusion and dropout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鲁棒性与恢复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Robustness and recovery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普通融合与异常值处理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Plain vs robust fusion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异常率、恢复时间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Outlier rate, recovery time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闭环返回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 return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累计漂移与可重复性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Drift and repeatability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多次重复实验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Repeated trials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终点误差、运行频率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End error, update rate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22122-FACC-44C1-8590-5352556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086600"/>
            <a:ext cx="1152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性能改善属于待验证结果，月底汇报同时呈现有效情况和失败情况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697D8-4587-477F-96F2-C5944FEE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381875"/>
            <a:ext cx="1152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Any performance gain remains an experimental finding, including failure cases</a:t>
            </a:r>
          </a:p>
        </p:txBody>
      </p:sp>
    </p:spTree>
    <p:extLst>
      <p:ext uri="{BB962C8B-B14F-4D97-AF65-F5344CB8AC3E}">
        <p14:creationId xmlns:p14="http://schemas.microsoft.com/office/powerpoint/2010/main" val="1105540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8f44dc4df4e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7742A-E344-434F-BDBD-AFA88C6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40D96-72FE-4BED-B517-F4CDA0D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484AE-015D-4050-B6B8-8872AFD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3EE48-3403-4E89-B2BD-13D611E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月底预期成果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E2E97-DCFF-4484-A521-2CED6F07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Expected Outcomes by the End of the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10608-0BF4-4A9A-8B46-A01F1D9B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8E22B-9401-4308-A51F-41ECE0A8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432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初步达成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8B808-4121-45BF-8079-20ACFF6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INITIAL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MILESTONE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55618-63D5-404B-9165-447E3E4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可重复的双车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协同定位演示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12575-C03E-4C23-8952-82C659A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0122D-509F-43CD-A8DB-0A7BC808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代码与配置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8BDF3-6C6E-4C13-BB07-78A8983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44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双车 launch、命名空间、TF、EKF/UWB 参数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Dual-robot launch files, TF and fusion configs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812DC-CA4F-49A4-A8B0-22E73A21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479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7804E-84A5-4207-A16C-1578F45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479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数据与评估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50591-2DBF-4EBC-99D1-60861844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622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同步 rosbag、UWB 标定统计、轨迹对比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Synchronized bags, calibration and trajectory 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52112-5883-4BA0-846D-1E2FF1B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B1634-D026-4945-B7F7-453DD3C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625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演示与记录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23206-B359-4E7C-A122-BD4EAD6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768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实时展示、运行说明、问题清单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demo, reproduction notes and issue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7D9FB-9C72-4740-B559-F5DEE57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625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E9B6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337B9-27AF-4C1A-93F4-EC2FCFA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625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明确边界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F585F-AAB7-4F45-8E51-E5B1890D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768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记录不可观条件、UWB 失效和未解决问题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Document unobservable cases, failures and open issues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9FF2D-9AF5-4A40-998D-FC0C5D65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2D4C5-C8EA-4DA4-A443-172B21D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本月成果定位：可运行、可测量、可复现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87785-A14B-4496-8936-366627D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Monthly outcome: runnable, measurable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9781253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5225987bb43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C8EC7-E03D-49C7-AD0A-00457BE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03833-8650-46B4-8882-9A95820F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E8BCF-6D08-4C12-9F8B-E69F3EA4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4838C-90A6-4DD4-B119-4075949D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后续研究路线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CD1BF-4FFB-4FB9-AB74-18C41F8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Follow-on Research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C2407-C083-477D-8732-7A3418A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7DBB-F79B-4E96-854E-79EF446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地面平台完善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40598-4FEB-43FD-A8D9-42491670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Ground-platform refinement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F796-1864-4327-BE74-88998568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569E7-F3D4-4A14-BC85-80E8DF15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6267E-0316-4029-86E8-5E6B93F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扩展视觉或激光定位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4E1DE-0B5F-4BD3-A75A-3A3A61C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visual or LiDAR localization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A2C66-5610-4D88-B8A1-6B91AF07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56BC8-256B-4F7D-BF77-C3061B2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研究遮挡与通信中断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99599-82CA-42C9-839B-C27AF4CC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Study occlusion and communication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B65CB-5758-4F7F-8AA1-AAD51825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7CE35-2BF8-4846-B659-979ED76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Unreal 月面迁移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8E59E-5F4B-4806-AD0D-554F0395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0512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Migration to a lunar Unreal scene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52A99-F240-46C0-A9AA-FEF1A7CC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9C28A-D461-4C70-8C00-E54DE39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5B9B0-A1A0-4E69-87C8-E130A1C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复现传感器接口和时间戳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D0EC1-91CE-421A-AC5E-8A715E43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9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Replicate sensor interfaces and timing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9C421-1AF4-4408-B6BA-2F9968D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01377-98BF-4426-B3B4-9845025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加入光照、地形和打滑退化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012C9-4E83-4382-8255-23927CA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3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lighting, terrain and slip degradation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F6F25-A0FF-4B64-A7B8-4314058F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9AE08-455F-4085-B619-1D140E2C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57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月球 PNT 研究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1C035-42F5-489E-9B2B-85A09DF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0512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Lunar PNT research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2C2E5C-8C7A-45E7-831B-B0A804F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CEFF3"/>
          </a:solidFill>
          <a:ln xmlns:a="http://schemas.openxmlformats.org/drawingml/2006/main" w="9525">
            <a:solidFill>
              <a:srgbClr val="B600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14E523-C9A5-48B4-BAD7-2DFD6FE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013D0-6B43-405D-8C52-D343EE5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接入稀疏月球卫星测距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C65C5-C12F-464B-98E3-5517D9C1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Introduce sparse lunar satellite ranging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8E4C58-41E1-4BFB-8995-9A8CEB5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95371-2278-4C0D-87DC-8E133D49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2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 DEM、视觉和 PNT 互补性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BA1C5-EA52-41FC-BE30-EFEFBBC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1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Compare DEM, vision and PNT constraints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A24E9-21A6-41A4-B063-38EA2F4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8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13569-5A02-4E57-AFCE-841A2EC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00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FB090C-3507-4AB2-9D29-760C3183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048375"/>
            <a:ext cx="1051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33690-1D7C-4AAC-AB35-3FCB3C6A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722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后续选题依据：本月实验揭示的误差模式、不可观条件和传感器互补关系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ED381-A8C9-430C-810A-BD3B6C7B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524625"/>
            <a:ext cx="994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Topic selection will follow measured failure modes, observability and sensor complementarity</a:t>
            </a:r>
          </a:p>
        </p:txBody>
      </p:sp>
    </p:spTree>
    <p:extLst>
      <p:ext uri="{BB962C8B-B14F-4D97-AF65-F5344CB8AC3E}">
        <p14:creationId xmlns:p14="http://schemas.microsoft.com/office/powerpoint/2010/main" val="896621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2026-09-14T12:01:10.8800000Z</dcterms:created>
  <dcterms:modified xsi:type="dcterms:W3CDTF">2026-09-14T12:01:10.8800000Z</dcterms:modified>
</coreProperties>
</file>