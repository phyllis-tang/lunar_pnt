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5240000" cy="8572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6A2659-E80A-4DAC-92E0-E10DDB5E5D5F}" v="14" dt="2026-09-15T12:53:07.6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57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G, yiyucandy [Student]" userId="a8695bee-ddd1-4aab-9841-97f2fa366b0a" providerId="ADAL" clId="{DDD82283-9C2E-42C4-B1A3-3116B2E46D53}"/>
    <pc:docChg chg="undo custSel modSld">
      <pc:chgData name="TANG, yiyucandy [Student]" userId="a8695bee-ddd1-4aab-9841-97f2fa366b0a" providerId="ADAL" clId="{DDD82283-9C2E-42C4-B1A3-3116B2E46D53}" dt="2026-09-15T12:54:15.659" v="239" actId="1076"/>
      <pc:docMkLst>
        <pc:docMk/>
      </pc:docMkLst>
      <pc:sldChg chg="modSp mod">
        <pc:chgData name="TANG, yiyucandy [Student]" userId="a8695bee-ddd1-4aab-9841-97f2fa366b0a" providerId="ADAL" clId="{DDD82283-9C2E-42C4-B1A3-3116B2E46D53}" dt="2026-09-15T12:48:15.255" v="91" actId="20577"/>
        <pc:sldMkLst>
          <pc:docMk/>
          <pc:sldMk cId="2071352378" sldId="256"/>
        </pc:sldMkLst>
        <pc:spChg chg="mod">
          <ac:chgData name="TANG, yiyucandy [Student]" userId="a8695bee-ddd1-4aab-9841-97f2fa366b0a" providerId="ADAL" clId="{DDD82283-9C2E-42C4-B1A3-3116B2E46D53}" dt="2026-09-15T12:48:07.026" v="55"/>
          <ac:spMkLst>
            <pc:docMk/>
            <pc:sldMk cId="2071352378" sldId="256"/>
            <ac:spMk id="7" creationId="{C645BB84-F13F-4409-99D9-6FE08666133D}"/>
          </ac:spMkLst>
        </pc:spChg>
        <pc:spChg chg="mod">
          <ac:chgData name="TANG, yiyucandy [Student]" userId="a8695bee-ddd1-4aab-9841-97f2fa366b0a" providerId="ADAL" clId="{DDD82283-9C2E-42C4-B1A3-3116B2E46D53}" dt="2026-09-15T12:48:15.255" v="91" actId="20577"/>
          <ac:spMkLst>
            <pc:docMk/>
            <pc:sldMk cId="2071352378" sldId="256"/>
            <ac:spMk id="10" creationId="{840D927E-0D3F-4703-86A1-7F549B659BD6}"/>
          </ac:spMkLst>
        </pc:spChg>
      </pc:sldChg>
      <pc:sldChg chg="addSp modSp mod">
        <pc:chgData name="TANG, yiyucandy [Student]" userId="a8695bee-ddd1-4aab-9841-97f2fa366b0a" providerId="ADAL" clId="{DDD82283-9C2E-42C4-B1A3-3116B2E46D53}" dt="2026-09-15T12:50:34.045" v="164" actId="20577"/>
        <pc:sldMkLst>
          <pc:docMk/>
          <pc:sldMk cId="194691" sldId="257"/>
        </pc:sldMkLst>
        <pc:spChg chg="mod">
          <ac:chgData name="TANG, yiyucandy [Student]" userId="a8695bee-ddd1-4aab-9841-97f2fa366b0a" providerId="ADAL" clId="{DDD82283-9C2E-42C4-B1A3-3116B2E46D53}" dt="2026-09-15T12:48:43.686" v="95" actId="20577"/>
          <ac:spMkLst>
            <pc:docMk/>
            <pc:sldMk cId="194691" sldId="257"/>
            <ac:spMk id="9" creationId="{2E5BEA00-00E3-454B-9B57-479698B919A5}"/>
          </ac:spMkLst>
        </pc:spChg>
        <pc:spChg chg="mod">
          <ac:chgData name="TANG, yiyucandy [Student]" userId="a8695bee-ddd1-4aab-9841-97f2fa366b0a" providerId="ADAL" clId="{DDD82283-9C2E-42C4-B1A3-3116B2E46D53}" dt="2026-09-15T12:48:03.753" v="7" actId="27636"/>
          <ac:spMkLst>
            <pc:docMk/>
            <pc:sldMk cId="194691" sldId="257"/>
            <ac:spMk id="12" creationId="{06CE73D3-F1BE-43B4-9AB9-98813BC2B4F2}"/>
          </ac:spMkLst>
        </pc:spChg>
        <pc:spChg chg="mod">
          <ac:chgData name="TANG, yiyucandy [Student]" userId="a8695bee-ddd1-4aab-9841-97f2fa366b0a" providerId="ADAL" clId="{DDD82283-9C2E-42C4-B1A3-3116B2E46D53}" dt="2026-09-15T12:48:03.741" v="4" actId="27636"/>
          <ac:spMkLst>
            <pc:docMk/>
            <pc:sldMk cId="194691" sldId="257"/>
            <ac:spMk id="15" creationId="{03072F75-6DE5-4505-ABB6-096F95FC116D}"/>
          </ac:spMkLst>
        </pc:spChg>
        <pc:spChg chg="mod">
          <ac:chgData name="TANG, yiyucandy [Student]" userId="a8695bee-ddd1-4aab-9841-97f2fa366b0a" providerId="ADAL" clId="{DDD82283-9C2E-42C4-B1A3-3116B2E46D53}" dt="2026-09-15T12:48:03.726" v="2" actId="27636"/>
          <ac:spMkLst>
            <pc:docMk/>
            <pc:sldMk cId="194691" sldId="257"/>
            <ac:spMk id="18" creationId="{C51FFE91-5448-4DEE-B364-D2B34292A678}"/>
          </ac:spMkLst>
        </pc:spChg>
        <pc:spChg chg="mod">
          <ac:chgData name="TANG, yiyucandy [Student]" userId="a8695bee-ddd1-4aab-9841-97f2fa366b0a" providerId="ADAL" clId="{DDD82283-9C2E-42C4-B1A3-3116B2E46D53}" dt="2026-09-15T12:48:03.734" v="3" actId="27636"/>
          <ac:spMkLst>
            <pc:docMk/>
            <pc:sldMk cId="194691" sldId="257"/>
            <ac:spMk id="21" creationId="{B8E5B6BD-E13F-4C33-8C81-C480237F6FCF}"/>
          </ac:spMkLst>
        </pc:spChg>
        <pc:spChg chg="mod">
          <ac:chgData name="TANG, yiyucandy [Student]" userId="a8695bee-ddd1-4aab-9841-97f2fa366b0a" providerId="ADAL" clId="{DDD82283-9C2E-42C4-B1A3-3116B2E46D53}" dt="2026-09-15T12:48:03.770" v="10" actId="27636"/>
          <ac:spMkLst>
            <pc:docMk/>
            <pc:sldMk cId="194691" sldId="257"/>
            <ac:spMk id="26" creationId="{D4FBA465-F787-4F57-B094-ED7323B94EBC}"/>
          </ac:spMkLst>
        </pc:spChg>
        <pc:spChg chg="mod">
          <ac:chgData name="TANG, yiyucandy [Student]" userId="a8695bee-ddd1-4aab-9841-97f2fa366b0a" providerId="ADAL" clId="{DDD82283-9C2E-42C4-B1A3-3116B2E46D53}" dt="2026-09-15T12:48:03.748" v="6" actId="27636"/>
          <ac:spMkLst>
            <pc:docMk/>
            <pc:sldMk cId="194691" sldId="257"/>
            <ac:spMk id="29" creationId="{553528A5-9A50-4076-A811-7E82AE34E3ED}"/>
          </ac:spMkLst>
        </pc:spChg>
        <pc:spChg chg="mod">
          <ac:chgData name="TANG, yiyucandy [Student]" userId="a8695bee-ddd1-4aab-9841-97f2fa366b0a" providerId="ADAL" clId="{DDD82283-9C2E-42C4-B1A3-3116B2E46D53}" dt="2026-09-15T12:48:03.742" v="5" actId="27636"/>
          <ac:spMkLst>
            <pc:docMk/>
            <pc:sldMk cId="194691" sldId="257"/>
            <ac:spMk id="32" creationId="{AD3D10A8-F10A-40D3-B9DF-CCDB6F9CF613}"/>
          </ac:spMkLst>
        </pc:spChg>
        <pc:spChg chg="mod">
          <ac:chgData name="TANG, yiyucandy [Student]" userId="a8695bee-ddd1-4aab-9841-97f2fa366b0a" providerId="ADAL" clId="{DDD82283-9C2E-42C4-B1A3-3116B2E46D53}" dt="2026-09-15T12:48:03.759" v="8" actId="27636"/>
          <ac:spMkLst>
            <pc:docMk/>
            <pc:sldMk cId="194691" sldId="257"/>
            <ac:spMk id="35" creationId="{4625CC15-373D-4740-96F7-7E40ED03CBD4}"/>
          </ac:spMkLst>
        </pc:spChg>
        <pc:spChg chg="mod">
          <ac:chgData name="TANG, yiyucandy [Student]" userId="a8695bee-ddd1-4aab-9841-97f2fa366b0a" providerId="ADAL" clId="{DDD82283-9C2E-42C4-B1A3-3116B2E46D53}" dt="2026-09-15T12:50:05.778" v="122" actId="20577"/>
          <ac:spMkLst>
            <pc:docMk/>
            <pc:sldMk cId="194691" sldId="257"/>
            <ac:spMk id="37" creationId="{E4C37C46-3D08-4174-BB18-7CB03A26F92D}"/>
          </ac:spMkLst>
        </pc:spChg>
        <pc:spChg chg="mod">
          <ac:chgData name="TANG, yiyucandy [Student]" userId="a8695bee-ddd1-4aab-9841-97f2fa366b0a" providerId="ADAL" clId="{DDD82283-9C2E-42C4-B1A3-3116B2E46D53}" dt="2026-09-15T12:48:58.897" v="112" actId="20577"/>
          <ac:spMkLst>
            <pc:docMk/>
            <pc:sldMk cId="194691" sldId="257"/>
            <ac:spMk id="38" creationId="{2C2C16E3-581D-4355-A2EC-5365DB627927}"/>
          </ac:spMkLst>
        </pc:spChg>
        <pc:spChg chg="mod">
          <ac:chgData name="TANG, yiyucandy [Student]" userId="a8695bee-ddd1-4aab-9841-97f2fa366b0a" providerId="ADAL" clId="{DDD82283-9C2E-42C4-B1A3-3116B2E46D53}" dt="2026-09-15T12:50:27.977" v="154" actId="20577"/>
          <ac:spMkLst>
            <pc:docMk/>
            <pc:sldMk cId="194691" sldId="257"/>
            <ac:spMk id="39" creationId="{ED76F450-0904-40A2-A801-2D5A6E28C2F1}"/>
          </ac:spMkLst>
        </pc:spChg>
        <pc:spChg chg="add mod">
          <ac:chgData name="TANG, yiyucandy [Student]" userId="a8695bee-ddd1-4aab-9841-97f2fa366b0a" providerId="ADAL" clId="{DDD82283-9C2E-42C4-B1A3-3116B2E46D53}" dt="2026-09-15T12:50:34.045" v="164" actId="20577"/>
          <ac:spMkLst>
            <pc:docMk/>
            <pc:sldMk cId="194691" sldId="257"/>
            <ac:spMk id="41" creationId="{203BBEC9-41DD-856C-C88D-3756D2DE4476}"/>
          </ac:spMkLst>
        </pc:spChg>
        <pc:picChg chg="mod">
          <ac:chgData name="TANG, yiyucandy [Student]" userId="a8695bee-ddd1-4aab-9841-97f2fa366b0a" providerId="ADAL" clId="{DDD82283-9C2E-42C4-B1A3-3116B2E46D53}" dt="2026-09-15T12:48:47.442" v="96" actId="1076"/>
          <ac:picMkLst>
            <pc:docMk/>
            <pc:sldMk cId="194691" sldId="257"/>
            <ac:picMk id="40" creationId="{00000000-0000-0000-0000-000000000000}"/>
          </ac:picMkLst>
        </pc:picChg>
      </pc:sldChg>
      <pc:sldChg chg="modSp mod">
        <pc:chgData name="TANG, yiyucandy [Student]" userId="a8695bee-ddd1-4aab-9841-97f2fa366b0a" providerId="ADAL" clId="{DDD82283-9C2E-42C4-B1A3-3116B2E46D53}" dt="2026-09-15T12:51:16.738" v="198" actId="255"/>
        <pc:sldMkLst>
          <pc:docMk/>
          <pc:sldMk cId="1413703261" sldId="258"/>
        </pc:sldMkLst>
        <pc:spChg chg="mod">
          <ac:chgData name="TANG, yiyucandy [Student]" userId="a8695bee-ddd1-4aab-9841-97f2fa366b0a" providerId="ADAL" clId="{DDD82283-9C2E-42C4-B1A3-3116B2E46D53}" dt="2026-09-15T12:50:52.297" v="178" actId="20577"/>
          <ac:spMkLst>
            <pc:docMk/>
            <pc:sldMk cId="1413703261" sldId="258"/>
            <ac:spMk id="5" creationId="{7F17049F-051B-467A-A10B-FBA58D5845FE}"/>
          </ac:spMkLst>
        </pc:spChg>
        <pc:spChg chg="mod">
          <ac:chgData name="TANG, yiyucandy [Student]" userId="a8695bee-ddd1-4aab-9841-97f2fa366b0a" providerId="ADAL" clId="{DDD82283-9C2E-42C4-B1A3-3116B2E46D53}" dt="2026-09-15T12:51:16.738" v="198" actId="255"/>
          <ac:spMkLst>
            <pc:docMk/>
            <pc:sldMk cId="1413703261" sldId="258"/>
            <ac:spMk id="6" creationId="{6385B77E-3A87-4254-B878-B778C66F3189}"/>
          </ac:spMkLst>
        </pc:spChg>
        <pc:spChg chg="mod">
          <ac:chgData name="TANG, yiyucandy [Student]" userId="a8695bee-ddd1-4aab-9841-97f2fa366b0a" providerId="ADAL" clId="{DDD82283-9C2E-42C4-B1A3-3116B2E46D53}" dt="2026-09-15T12:48:03.782" v="11" actId="27636"/>
          <ac:spMkLst>
            <pc:docMk/>
            <pc:sldMk cId="1413703261" sldId="258"/>
            <ac:spMk id="8" creationId="{3E802071-76DE-405A-935A-43A0B16BEE60}"/>
          </ac:spMkLst>
        </pc:spChg>
        <pc:picChg chg="mod">
          <ac:chgData name="TANG, yiyucandy [Student]" userId="a8695bee-ddd1-4aab-9841-97f2fa366b0a" providerId="ADAL" clId="{DDD82283-9C2E-42C4-B1A3-3116B2E46D53}" dt="2026-09-15T12:51:05.931" v="197" actId="1076"/>
          <ac:picMkLst>
            <pc:docMk/>
            <pc:sldMk cId="1413703261" sldId="258"/>
            <ac:picMk id="24" creationId="{00000000-0000-0000-0000-000000000000}"/>
          </ac:picMkLst>
        </pc:picChg>
      </pc:sldChg>
      <pc:sldChg chg="modSp mod">
        <pc:chgData name="TANG, yiyucandy [Student]" userId="a8695bee-ddd1-4aab-9841-97f2fa366b0a" providerId="ADAL" clId="{DDD82283-9C2E-42C4-B1A3-3116B2E46D53}" dt="2026-09-15T12:52:13.879" v="208" actId="20577"/>
        <pc:sldMkLst>
          <pc:docMk/>
          <pc:sldMk cId="2077304670" sldId="259"/>
        </pc:sldMkLst>
        <pc:spChg chg="mod">
          <ac:chgData name="TANG, yiyucandy [Student]" userId="a8695bee-ddd1-4aab-9841-97f2fa366b0a" providerId="ADAL" clId="{DDD82283-9C2E-42C4-B1A3-3116B2E46D53}" dt="2026-09-15T12:52:09.893" v="201"/>
          <ac:spMkLst>
            <pc:docMk/>
            <pc:sldMk cId="2077304670" sldId="259"/>
            <ac:spMk id="5" creationId="{577E88A5-4721-4089-BDA2-9C49898359BB}"/>
          </ac:spMkLst>
        </pc:spChg>
        <pc:spChg chg="mod">
          <ac:chgData name="TANG, yiyucandy [Student]" userId="a8695bee-ddd1-4aab-9841-97f2fa366b0a" providerId="ADAL" clId="{DDD82283-9C2E-42C4-B1A3-3116B2E46D53}" dt="2026-09-15T12:52:13.879" v="208" actId="20577"/>
          <ac:spMkLst>
            <pc:docMk/>
            <pc:sldMk cId="2077304670" sldId="259"/>
            <ac:spMk id="6" creationId="{58623AB9-9515-4947-A668-CA8D5382D187}"/>
          </ac:spMkLst>
        </pc:spChg>
        <pc:spChg chg="mod">
          <ac:chgData name="TANG, yiyucandy [Student]" userId="a8695bee-ddd1-4aab-9841-97f2fa366b0a" providerId="ADAL" clId="{DDD82283-9C2E-42C4-B1A3-3116B2E46D53}" dt="2026-09-15T12:48:03.813" v="16" actId="27636"/>
          <ac:spMkLst>
            <pc:docMk/>
            <pc:sldMk cId="2077304670" sldId="259"/>
            <ac:spMk id="26" creationId="{2049FCE8-22AF-4378-938B-6EF2258E89CA}"/>
          </ac:spMkLst>
        </pc:spChg>
        <pc:spChg chg="mod">
          <ac:chgData name="TANG, yiyucandy [Student]" userId="a8695bee-ddd1-4aab-9841-97f2fa366b0a" providerId="ADAL" clId="{DDD82283-9C2E-42C4-B1A3-3116B2E46D53}" dt="2026-09-15T12:48:03.811" v="15" actId="27636"/>
          <ac:spMkLst>
            <pc:docMk/>
            <pc:sldMk cId="2077304670" sldId="259"/>
            <ac:spMk id="29" creationId="{6CE7F182-0640-4B69-B64A-2E15ED35E3E9}"/>
          </ac:spMkLst>
        </pc:spChg>
        <pc:spChg chg="mod">
          <ac:chgData name="TANG, yiyucandy [Student]" userId="a8695bee-ddd1-4aab-9841-97f2fa366b0a" providerId="ADAL" clId="{DDD82283-9C2E-42C4-B1A3-3116B2E46D53}" dt="2026-09-15T12:48:03.797" v="12" actId="27636"/>
          <ac:spMkLst>
            <pc:docMk/>
            <pc:sldMk cId="2077304670" sldId="259"/>
            <ac:spMk id="32" creationId="{57BDB9F5-0DA9-4AFD-A590-B6EAB50C27AB}"/>
          </ac:spMkLst>
        </pc:spChg>
        <pc:spChg chg="mod">
          <ac:chgData name="TANG, yiyucandy [Student]" userId="a8695bee-ddd1-4aab-9841-97f2fa366b0a" providerId="ADAL" clId="{DDD82283-9C2E-42C4-B1A3-3116B2E46D53}" dt="2026-09-15T12:48:03.802" v="13" actId="27636"/>
          <ac:spMkLst>
            <pc:docMk/>
            <pc:sldMk cId="2077304670" sldId="259"/>
            <ac:spMk id="35" creationId="{9E7FCA41-3302-441A-8729-BBDD143B812C}"/>
          </ac:spMkLst>
        </pc:spChg>
        <pc:spChg chg="mod">
          <ac:chgData name="TANG, yiyucandy [Student]" userId="a8695bee-ddd1-4aab-9841-97f2fa366b0a" providerId="ADAL" clId="{DDD82283-9C2E-42C4-B1A3-3116B2E46D53}" dt="2026-09-15T12:48:03.807" v="14" actId="27636"/>
          <ac:spMkLst>
            <pc:docMk/>
            <pc:sldMk cId="2077304670" sldId="259"/>
            <ac:spMk id="38" creationId="{A798D466-F84F-4EA7-838F-AB7C94F372A2}"/>
          </ac:spMkLst>
        </pc:spChg>
      </pc:sldChg>
      <pc:sldChg chg="modSp mod">
        <pc:chgData name="TANG, yiyucandy [Student]" userId="a8695bee-ddd1-4aab-9841-97f2fa366b0a" providerId="ADAL" clId="{DDD82283-9C2E-42C4-B1A3-3116B2E46D53}" dt="2026-09-15T12:52:29.767" v="216" actId="20577"/>
        <pc:sldMkLst>
          <pc:docMk/>
          <pc:sldMk cId="381092722" sldId="260"/>
        </pc:sldMkLst>
        <pc:spChg chg="mod">
          <ac:chgData name="TANG, yiyucandy [Student]" userId="a8695bee-ddd1-4aab-9841-97f2fa366b0a" providerId="ADAL" clId="{DDD82283-9C2E-42C4-B1A3-3116B2E46D53}" dt="2026-09-15T12:52:20.453" v="211"/>
          <ac:spMkLst>
            <pc:docMk/>
            <pc:sldMk cId="381092722" sldId="260"/>
            <ac:spMk id="5" creationId="{95361170-8212-4CAD-87BC-AFD289454C85}"/>
          </ac:spMkLst>
        </pc:spChg>
        <pc:spChg chg="mod">
          <ac:chgData name="TANG, yiyucandy [Student]" userId="a8695bee-ddd1-4aab-9841-97f2fa366b0a" providerId="ADAL" clId="{DDD82283-9C2E-42C4-B1A3-3116B2E46D53}" dt="2026-09-15T12:52:29.767" v="216" actId="20577"/>
          <ac:spMkLst>
            <pc:docMk/>
            <pc:sldMk cId="381092722" sldId="260"/>
            <ac:spMk id="6" creationId="{8BE1EB71-195B-4735-B7A7-364D73DF7ADD}"/>
          </ac:spMkLst>
        </pc:spChg>
        <pc:spChg chg="mod">
          <ac:chgData name="TANG, yiyucandy [Student]" userId="a8695bee-ddd1-4aab-9841-97f2fa366b0a" providerId="ADAL" clId="{DDD82283-9C2E-42C4-B1A3-3116B2E46D53}" dt="2026-09-15T12:48:03.822" v="18" actId="27636"/>
          <ac:spMkLst>
            <pc:docMk/>
            <pc:sldMk cId="381092722" sldId="260"/>
            <ac:spMk id="28" creationId="{2E0F0CF9-947C-4B53-81C5-439EFAF532B1}"/>
          </ac:spMkLst>
        </pc:spChg>
        <pc:spChg chg="mod">
          <ac:chgData name="TANG, yiyucandy [Student]" userId="a8695bee-ddd1-4aab-9841-97f2fa366b0a" providerId="ADAL" clId="{DDD82283-9C2E-42C4-B1A3-3116B2E46D53}" dt="2026-09-15T12:48:03.827" v="19" actId="27636"/>
          <ac:spMkLst>
            <pc:docMk/>
            <pc:sldMk cId="381092722" sldId="260"/>
            <ac:spMk id="31" creationId="{784272BB-BA27-45EC-B886-913D59CD57E3}"/>
          </ac:spMkLst>
        </pc:spChg>
        <pc:spChg chg="mod">
          <ac:chgData name="TANG, yiyucandy [Student]" userId="a8695bee-ddd1-4aab-9841-97f2fa366b0a" providerId="ADAL" clId="{DDD82283-9C2E-42C4-B1A3-3116B2E46D53}" dt="2026-09-15T12:48:03.818" v="17" actId="27636"/>
          <ac:spMkLst>
            <pc:docMk/>
            <pc:sldMk cId="381092722" sldId="260"/>
            <ac:spMk id="34" creationId="{D12A7E70-5C8E-4467-8E0A-DAE284C50721}"/>
          </ac:spMkLst>
        </pc:spChg>
      </pc:sldChg>
      <pc:sldChg chg="modSp mod">
        <pc:chgData name="TANG, yiyucandy [Student]" userId="a8695bee-ddd1-4aab-9841-97f2fa366b0a" providerId="ADAL" clId="{DDD82283-9C2E-42C4-B1A3-3116B2E46D53}" dt="2026-09-15T12:52:35.614" v="219"/>
        <pc:sldMkLst>
          <pc:docMk/>
          <pc:sldMk cId="1742197268" sldId="261"/>
        </pc:sldMkLst>
        <pc:spChg chg="mod">
          <ac:chgData name="TANG, yiyucandy [Student]" userId="a8695bee-ddd1-4aab-9841-97f2fa366b0a" providerId="ADAL" clId="{DDD82283-9C2E-42C4-B1A3-3116B2E46D53}" dt="2026-09-15T12:52:35.614" v="219"/>
          <ac:spMkLst>
            <pc:docMk/>
            <pc:sldMk cId="1742197268" sldId="261"/>
            <ac:spMk id="5" creationId="{0A0216DF-900A-4BD2-8875-F28D3AFA1847}"/>
          </ac:spMkLst>
        </pc:spChg>
        <pc:spChg chg="mod">
          <ac:chgData name="TANG, yiyucandy [Student]" userId="a8695bee-ddd1-4aab-9841-97f2fa366b0a" providerId="ADAL" clId="{DDD82283-9C2E-42C4-B1A3-3116B2E46D53}" dt="2026-09-15T12:48:03.852" v="25" actId="27636"/>
          <ac:spMkLst>
            <pc:docMk/>
            <pc:sldMk cId="1742197268" sldId="261"/>
            <ac:spMk id="10" creationId="{992FB3C3-EE70-4E94-920E-790B5B4FD6F0}"/>
          </ac:spMkLst>
        </pc:spChg>
        <pc:spChg chg="mod">
          <ac:chgData name="TANG, yiyucandy [Student]" userId="a8695bee-ddd1-4aab-9841-97f2fa366b0a" providerId="ADAL" clId="{DDD82283-9C2E-42C4-B1A3-3116B2E46D53}" dt="2026-09-15T12:48:03.856" v="26" actId="27636"/>
          <ac:spMkLst>
            <pc:docMk/>
            <pc:sldMk cId="1742197268" sldId="261"/>
            <ac:spMk id="13" creationId="{B4B86673-C82D-4872-9F3D-985A64DEC906}"/>
          </ac:spMkLst>
        </pc:spChg>
        <pc:spChg chg="mod">
          <ac:chgData name="TANG, yiyucandy [Student]" userId="a8695bee-ddd1-4aab-9841-97f2fa366b0a" providerId="ADAL" clId="{DDD82283-9C2E-42C4-B1A3-3116B2E46D53}" dt="2026-09-15T12:48:03.843" v="23" actId="27636"/>
          <ac:spMkLst>
            <pc:docMk/>
            <pc:sldMk cId="1742197268" sldId="261"/>
            <ac:spMk id="16" creationId="{70EB15E2-A5E4-4E17-AE12-2403180AFEF0}"/>
          </ac:spMkLst>
        </pc:spChg>
        <pc:spChg chg="mod">
          <ac:chgData name="TANG, yiyucandy [Student]" userId="a8695bee-ddd1-4aab-9841-97f2fa366b0a" providerId="ADAL" clId="{DDD82283-9C2E-42C4-B1A3-3116B2E46D53}" dt="2026-09-15T12:48:03.838" v="20" actId="27636"/>
          <ac:spMkLst>
            <pc:docMk/>
            <pc:sldMk cId="1742197268" sldId="261"/>
            <ac:spMk id="17" creationId="{5BD63695-1A55-4150-8731-4D425117B7BC}"/>
          </ac:spMkLst>
        </pc:spChg>
        <pc:spChg chg="mod">
          <ac:chgData name="TANG, yiyucandy [Student]" userId="a8695bee-ddd1-4aab-9841-97f2fa366b0a" providerId="ADAL" clId="{DDD82283-9C2E-42C4-B1A3-3116B2E46D53}" dt="2026-09-15T12:48:03.845" v="24" actId="27636"/>
          <ac:spMkLst>
            <pc:docMk/>
            <pc:sldMk cId="1742197268" sldId="261"/>
            <ac:spMk id="19" creationId="{2729300E-F1AB-404F-8304-0A93E9E02ECC}"/>
          </ac:spMkLst>
        </pc:spChg>
        <pc:spChg chg="mod">
          <ac:chgData name="TANG, yiyucandy [Student]" userId="a8695bee-ddd1-4aab-9841-97f2fa366b0a" providerId="ADAL" clId="{DDD82283-9C2E-42C4-B1A3-3116B2E46D53}" dt="2026-09-15T12:48:03.841" v="22" actId="27636"/>
          <ac:spMkLst>
            <pc:docMk/>
            <pc:sldMk cId="1742197268" sldId="261"/>
            <ac:spMk id="25" creationId="{8B32BAC4-60BB-48AC-9AB1-0B274BA8C869}"/>
          </ac:spMkLst>
        </pc:spChg>
        <pc:spChg chg="mod">
          <ac:chgData name="TANG, yiyucandy [Student]" userId="a8695bee-ddd1-4aab-9841-97f2fa366b0a" providerId="ADAL" clId="{DDD82283-9C2E-42C4-B1A3-3116B2E46D53}" dt="2026-09-15T12:48:03.840" v="21" actId="27636"/>
          <ac:spMkLst>
            <pc:docMk/>
            <pc:sldMk cId="1742197268" sldId="261"/>
            <ac:spMk id="27" creationId="{C713B4C6-A84F-4904-96CA-199C774F8DD7}"/>
          </ac:spMkLst>
        </pc:spChg>
      </pc:sldChg>
      <pc:sldChg chg="modSp mod">
        <pc:chgData name="TANG, yiyucandy [Student]" userId="a8695bee-ddd1-4aab-9841-97f2fa366b0a" providerId="ADAL" clId="{DDD82283-9C2E-42C4-B1A3-3116B2E46D53}" dt="2026-09-15T12:53:07.672" v="225" actId="27636"/>
        <pc:sldMkLst>
          <pc:docMk/>
          <pc:sldMk cId="2002654475" sldId="262"/>
        </pc:sldMkLst>
        <pc:spChg chg="mod">
          <ac:chgData name="TANG, yiyucandy [Student]" userId="a8695bee-ddd1-4aab-9841-97f2fa366b0a" providerId="ADAL" clId="{DDD82283-9C2E-42C4-B1A3-3116B2E46D53}" dt="2026-09-15T12:48:03.876" v="30" actId="27636"/>
          <ac:spMkLst>
            <pc:docMk/>
            <pc:sldMk cId="2002654475" sldId="262"/>
            <ac:spMk id="11" creationId="{4EB6D894-9201-4A04-9D98-FD281AA4D7A6}"/>
          </ac:spMkLst>
        </pc:spChg>
        <pc:spChg chg="mod">
          <ac:chgData name="TANG, yiyucandy [Student]" userId="a8695bee-ddd1-4aab-9841-97f2fa366b0a" providerId="ADAL" clId="{DDD82283-9C2E-42C4-B1A3-3116B2E46D53}" dt="2026-09-15T12:48:03.878" v="31" actId="27636"/>
          <ac:spMkLst>
            <pc:docMk/>
            <pc:sldMk cId="2002654475" sldId="262"/>
            <ac:spMk id="13" creationId="{54B41F7C-8548-4C3A-B96A-45E5569F7C85}"/>
          </ac:spMkLst>
        </pc:spChg>
        <pc:spChg chg="mod">
          <ac:chgData name="TANG, yiyucandy [Student]" userId="a8695bee-ddd1-4aab-9841-97f2fa366b0a" providerId="ADAL" clId="{DDD82283-9C2E-42C4-B1A3-3116B2E46D53}" dt="2026-09-15T12:48:03.873" v="29" actId="27636"/>
          <ac:spMkLst>
            <pc:docMk/>
            <pc:sldMk cId="2002654475" sldId="262"/>
            <ac:spMk id="15" creationId="{45095C9F-887F-4125-A671-1265096654EC}"/>
          </ac:spMkLst>
        </pc:spChg>
        <pc:spChg chg="mod">
          <ac:chgData name="TANG, yiyucandy [Student]" userId="a8695bee-ddd1-4aab-9841-97f2fa366b0a" providerId="ADAL" clId="{DDD82283-9C2E-42C4-B1A3-3116B2E46D53}" dt="2026-09-15T12:48:03.880" v="33" actId="27636"/>
          <ac:spMkLst>
            <pc:docMk/>
            <pc:sldMk cId="2002654475" sldId="262"/>
            <ac:spMk id="17" creationId="{8ABE6F4C-503B-4ABE-8E5E-EA2A1B656223}"/>
          </ac:spMkLst>
        </pc:spChg>
        <pc:spChg chg="mod">
          <ac:chgData name="TANG, yiyucandy [Student]" userId="a8695bee-ddd1-4aab-9841-97f2fa366b0a" providerId="ADAL" clId="{DDD82283-9C2E-42C4-B1A3-3116B2E46D53}" dt="2026-09-15T12:48:03.863" v="27" actId="27636"/>
          <ac:spMkLst>
            <pc:docMk/>
            <pc:sldMk cId="2002654475" sldId="262"/>
            <ac:spMk id="27" creationId="{B2D9918C-412C-4C86-B4E0-C0E5196B4344}"/>
          </ac:spMkLst>
        </pc:spChg>
        <pc:spChg chg="mod">
          <ac:chgData name="TANG, yiyucandy [Student]" userId="a8695bee-ddd1-4aab-9841-97f2fa366b0a" providerId="ADAL" clId="{DDD82283-9C2E-42C4-B1A3-3116B2E46D53}" dt="2026-09-15T12:53:07.672" v="225" actId="27636"/>
          <ac:spMkLst>
            <pc:docMk/>
            <pc:sldMk cId="2002654475" sldId="262"/>
            <ac:spMk id="28" creationId="{9F26DF76-4523-4E06-81F2-A7D193724A43}"/>
          </ac:spMkLst>
        </pc:spChg>
        <pc:spChg chg="mod">
          <ac:chgData name="TANG, yiyucandy [Student]" userId="a8695bee-ddd1-4aab-9841-97f2fa366b0a" providerId="ADAL" clId="{DDD82283-9C2E-42C4-B1A3-3116B2E46D53}" dt="2026-09-15T12:48:03.866" v="28" actId="27636"/>
          <ac:spMkLst>
            <pc:docMk/>
            <pc:sldMk cId="2002654475" sldId="262"/>
            <ac:spMk id="30" creationId="{81CAD86D-5CEE-4E3B-9530-2CBA799B0CAA}"/>
          </ac:spMkLst>
        </pc:spChg>
      </pc:sldChg>
      <pc:sldChg chg="modSp mod">
        <pc:chgData name="TANG, yiyucandy [Student]" userId="a8695bee-ddd1-4aab-9841-97f2fa366b0a" providerId="ADAL" clId="{DDD82283-9C2E-42C4-B1A3-3116B2E46D53}" dt="2026-09-15T12:53:07.636" v="224" actId="27636"/>
        <pc:sldMkLst>
          <pc:docMk/>
          <pc:sldMk cId="74459232" sldId="264"/>
        </pc:sldMkLst>
        <pc:spChg chg="mod">
          <ac:chgData name="TANG, yiyucandy [Student]" userId="a8695bee-ddd1-4aab-9841-97f2fa366b0a" providerId="ADAL" clId="{DDD82283-9C2E-42C4-B1A3-3116B2E46D53}" dt="2026-09-15T12:53:07.625" v="223"/>
          <ac:spMkLst>
            <pc:docMk/>
            <pc:sldMk cId="74459232" sldId="264"/>
            <ac:spMk id="5" creationId="{15BEEB3F-31C0-49AD-B59C-312FB9A2E6BA}"/>
          </ac:spMkLst>
        </pc:spChg>
        <pc:spChg chg="mod">
          <ac:chgData name="TANG, yiyucandy [Student]" userId="a8695bee-ddd1-4aab-9841-97f2fa366b0a" providerId="ADAL" clId="{DDD82283-9C2E-42C4-B1A3-3116B2E46D53}" dt="2026-09-15T12:48:03.909" v="38" actId="27636"/>
          <ac:spMkLst>
            <pc:docMk/>
            <pc:sldMk cId="74459232" sldId="264"/>
            <ac:spMk id="12" creationId="{075EDC22-8380-4BB5-BBBA-BAD40A5023DF}"/>
          </ac:spMkLst>
        </pc:spChg>
        <pc:spChg chg="mod">
          <ac:chgData name="TANG, yiyucandy [Student]" userId="a8695bee-ddd1-4aab-9841-97f2fa366b0a" providerId="ADAL" clId="{DDD82283-9C2E-42C4-B1A3-3116B2E46D53}" dt="2026-09-15T12:53:07.636" v="224" actId="27636"/>
          <ac:spMkLst>
            <pc:docMk/>
            <pc:sldMk cId="74459232" sldId="264"/>
            <ac:spMk id="13" creationId="{D8E07F6E-B054-4415-83C9-856232C42462}"/>
          </ac:spMkLst>
        </pc:spChg>
        <pc:spChg chg="mod">
          <ac:chgData name="TANG, yiyucandy [Student]" userId="a8695bee-ddd1-4aab-9841-97f2fa366b0a" providerId="ADAL" clId="{DDD82283-9C2E-42C4-B1A3-3116B2E46D53}" dt="2026-09-15T12:48:03.888" v="34" actId="27636"/>
          <ac:spMkLst>
            <pc:docMk/>
            <pc:sldMk cId="74459232" sldId="264"/>
            <ac:spMk id="15" creationId="{87FA8172-BADD-484F-AFEE-DD4A7235F447}"/>
          </ac:spMkLst>
        </pc:spChg>
        <pc:spChg chg="mod">
          <ac:chgData name="TANG, yiyucandy [Student]" userId="a8695bee-ddd1-4aab-9841-97f2fa366b0a" providerId="ADAL" clId="{DDD82283-9C2E-42C4-B1A3-3116B2E46D53}" dt="2026-09-15T12:48:03.907" v="37" actId="27636"/>
          <ac:spMkLst>
            <pc:docMk/>
            <pc:sldMk cId="74459232" sldId="264"/>
            <ac:spMk id="18" creationId="{65193C45-E61F-473A-9D57-015FF22B005A}"/>
          </ac:spMkLst>
        </pc:spChg>
        <pc:spChg chg="mod">
          <ac:chgData name="TANG, yiyucandy [Student]" userId="a8695bee-ddd1-4aab-9841-97f2fa366b0a" providerId="ADAL" clId="{DDD82283-9C2E-42C4-B1A3-3116B2E46D53}" dt="2026-09-15T12:48:03.921" v="40" actId="27636"/>
          <ac:spMkLst>
            <pc:docMk/>
            <pc:sldMk cId="74459232" sldId="264"/>
            <ac:spMk id="19" creationId="{104D8D36-E623-4C51-A090-D3CA918168B2}"/>
          </ac:spMkLst>
        </pc:spChg>
        <pc:spChg chg="mod">
          <ac:chgData name="TANG, yiyucandy [Student]" userId="a8695bee-ddd1-4aab-9841-97f2fa366b0a" providerId="ADAL" clId="{DDD82283-9C2E-42C4-B1A3-3116B2E46D53}" dt="2026-09-15T12:48:03.894" v="35" actId="27636"/>
          <ac:spMkLst>
            <pc:docMk/>
            <pc:sldMk cId="74459232" sldId="264"/>
            <ac:spMk id="21" creationId="{E980F8CE-8B5D-4BA4-8C79-24121DE1F517}"/>
          </ac:spMkLst>
        </pc:spChg>
        <pc:spChg chg="mod">
          <ac:chgData name="TANG, yiyucandy [Student]" userId="a8695bee-ddd1-4aab-9841-97f2fa366b0a" providerId="ADAL" clId="{DDD82283-9C2E-42C4-B1A3-3116B2E46D53}" dt="2026-09-15T12:48:03.902" v="36" actId="27636"/>
          <ac:spMkLst>
            <pc:docMk/>
            <pc:sldMk cId="74459232" sldId="264"/>
            <ac:spMk id="24" creationId="{761DBC40-2B8D-4E34-943D-F5E12BB48ABF}"/>
          </ac:spMkLst>
        </pc:spChg>
      </pc:sldChg>
      <pc:sldChg chg="modSp mod">
        <pc:chgData name="TANG, yiyucandy [Student]" userId="a8695bee-ddd1-4aab-9841-97f2fa366b0a" providerId="ADAL" clId="{DDD82283-9C2E-42C4-B1A3-3116B2E46D53}" dt="2026-09-15T12:54:15.659" v="239" actId="1076"/>
        <pc:sldMkLst>
          <pc:docMk/>
          <pc:sldMk cId="1600335152" sldId="265"/>
        </pc:sldMkLst>
        <pc:spChg chg="mod">
          <ac:chgData name="TANG, yiyucandy [Student]" userId="a8695bee-ddd1-4aab-9841-97f2fa366b0a" providerId="ADAL" clId="{DDD82283-9C2E-42C4-B1A3-3116B2E46D53}" dt="2026-09-15T12:48:03.956" v="45" actId="27636"/>
          <ac:spMkLst>
            <pc:docMk/>
            <pc:sldMk cId="1600335152" sldId="265"/>
            <ac:spMk id="12" creationId="{E82FA283-A667-4ADD-8AFA-AC6E14966064}"/>
          </ac:spMkLst>
        </pc:spChg>
        <pc:spChg chg="mod">
          <ac:chgData name="TANG, yiyucandy [Student]" userId="a8695bee-ddd1-4aab-9841-97f2fa366b0a" providerId="ADAL" clId="{DDD82283-9C2E-42C4-B1A3-3116B2E46D53}" dt="2026-09-15T12:48:03.935" v="41" actId="27636"/>
          <ac:spMkLst>
            <pc:docMk/>
            <pc:sldMk cId="1600335152" sldId="265"/>
            <ac:spMk id="15" creationId="{93D130CF-4573-43C1-BDB1-FD79B84783AF}"/>
          </ac:spMkLst>
        </pc:spChg>
        <pc:spChg chg="mod">
          <ac:chgData name="TANG, yiyucandy [Student]" userId="a8695bee-ddd1-4aab-9841-97f2fa366b0a" providerId="ADAL" clId="{DDD82283-9C2E-42C4-B1A3-3116B2E46D53}" dt="2026-09-15T12:48:03.962" v="47" actId="27636"/>
          <ac:spMkLst>
            <pc:docMk/>
            <pc:sldMk cId="1600335152" sldId="265"/>
            <ac:spMk id="22" creationId="{1EA9CDB8-2453-45E5-928C-3DE34CDD7B4D}"/>
          </ac:spMkLst>
        </pc:spChg>
        <pc:spChg chg="mod">
          <ac:chgData name="TANG, yiyucandy [Student]" userId="a8695bee-ddd1-4aab-9841-97f2fa366b0a" providerId="ADAL" clId="{DDD82283-9C2E-42C4-B1A3-3116B2E46D53}" dt="2026-09-15T12:48:03.978" v="49" actId="27636"/>
          <ac:spMkLst>
            <pc:docMk/>
            <pc:sldMk cId="1600335152" sldId="265"/>
            <ac:spMk id="25" creationId="{8AE972F9-70DE-4B49-AC36-18CE83C3E7B8}"/>
          </ac:spMkLst>
        </pc:spChg>
        <pc:spChg chg="mod">
          <ac:chgData name="TANG, yiyucandy [Student]" userId="a8695bee-ddd1-4aab-9841-97f2fa366b0a" providerId="ADAL" clId="{DDD82283-9C2E-42C4-B1A3-3116B2E46D53}" dt="2026-09-15T12:48:03.972" v="48" actId="27636"/>
          <ac:spMkLst>
            <pc:docMk/>
            <pc:sldMk cId="1600335152" sldId="265"/>
            <ac:spMk id="26" creationId="{2109172C-E530-4898-9E94-8F0ABE9DA36D}"/>
          </ac:spMkLst>
        </pc:spChg>
        <pc:spChg chg="mod">
          <ac:chgData name="TANG, yiyucandy [Student]" userId="a8695bee-ddd1-4aab-9841-97f2fa366b0a" providerId="ADAL" clId="{DDD82283-9C2E-42C4-B1A3-3116B2E46D53}" dt="2026-09-15T12:53:48.005" v="231" actId="1076"/>
          <ac:spMkLst>
            <pc:docMk/>
            <pc:sldMk cId="1600335152" sldId="265"/>
            <ac:spMk id="30" creationId="{8DB95A9C-15F7-41AF-8F09-8EB790FB089D}"/>
          </ac:spMkLst>
        </pc:spChg>
        <pc:spChg chg="mod">
          <ac:chgData name="TANG, yiyucandy [Student]" userId="a8695bee-ddd1-4aab-9841-97f2fa366b0a" providerId="ADAL" clId="{DDD82283-9C2E-42C4-B1A3-3116B2E46D53}" dt="2026-09-15T12:48:03.952" v="44" actId="27636"/>
          <ac:spMkLst>
            <pc:docMk/>
            <pc:sldMk cId="1600335152" sldId="265"/>
            <ac:spMk id="32" creationId="{FC93961C-2C2E-4B03-9B7A-AD533F2787FD}"/>
          </ac:spMkLst>
        </pc:spChg>
        <pc:spChg chg="mod">
          <ac:chgData name="TANG, yiyucandy [Student]" userId="a8695bee-ddd1-4aab-9841-97f2fa366b0a" providerId="ADAL" clId="{DDD82283-9C2E-42C4-B1A3-3116B2E46D53}" dt="2026-09-15T12:48:03.944" v="42" actId="27636"/>
          <ac:spMkLst>
            <pc:docMk/>
            <pc:sldMk cId="1600335152" sldId="265"/>
            <ac:spMk id="33" creationId="{FCC9DCAF-8FFE-4807-A9D0-257A7276B77B}"/>
          </ac:spMkLst>
        </pc:spChg>
        <pc:spChg chg="mod">
          <ac:chgData name="TANG, yiyucandy [Student]" userId="a8695bee-ddd1-4aab-9841-97f2fa366b0a" providerId="ADAL" clId="{DDD82283-9C2E-42C4-B1A3-3116B2E46D53}" dt="2026-09-15T12:48:03.949" v="43" actId="27636"/>
          <ac:spMkLst>
            <pc:docMk/>
            <pc:sldMk cId="1600335152" sldId="265"/>
            <ac:spMk id="35" creationId="{C4D9D87D-D8AB-4395-B56C-75CA02CAFEAC}"/>
          </ac:spMkLst>
        </pc:spChg>
        <pc:spChg chg="mod">
          <ac:chgData name="TANG, yiyucandy [Student]" userId="a8695bee-ddd1-4aab-9841-97f2fa366b0a" providerId="ADAL" clId="{DDD82283-9C2E-42C4-B1A3-3116B2E46D53}" dt="2026-09-15T12:54:14.728" v="238" actId="255"/>
          <ac:spMkLst>
            <pc:docMk/>
            <pc:sldMk cId="1600335152" sldId="265"/>
            <ac:spMk id="36" creationId="{65671929-343C-4EF1-83FC-EA12FB5851BA}"/>
          </ac:spMkLst>
        </pc:spChg>
        <pc:picChg chg="mod">
          <ac:chgData name="TANG, yiyucandy [Student]" userId="a8695bee-ddd1-4aab-9841-97f2fa366b0a" providerId="ADAL" clId="{DDD82283-9C2E-42C4-B1A3-3116B2E46D53}" dt="2026-09-15T12:54:15.659" v="239" actId="1076"/>
          <ac:picMkLst>
            <pc:docMk/>
            <pc:sldMk cId="1600335152" sldId="265"/>
            <ac:picMk id="42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本页说明汇报主题。本月重点是两辆实体小车的地面验证，不把本月目标描述为已经完成月球导航系统。Template background supplied by the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左侧来自用户此前的 ROS Car 学习成果。右侧是本月可验证的目标，准确率改善仍需实验数据支持，因此不预设性能提升结论。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推荐架构：硬件驱动在各自车载计算机运行，虚拟机承担 ROS Master、显示、记录和协同融合。车间 UWB 连接表示距离观测，不表示已经获得绝对位置。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第一周不安装 UWB。先排除底盘、雷达、串口和网络问题。虚拟机应使用桥接网络，避免 NAT 导致小车无法回连。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第二周得到的是双车独立定位基线，还不称为协同定位。共享 map，但每辆车保留独立 odom 和 base_link 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第三周先把 UWB 当作独立传感器，不直接并入定位。标定覆盖 LOS、人体遮挡、车体遮挡、静止和运动情况。黄色说明用于避免过度解释单条距离约束。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第四周先用 rosbag 离线实现。方法优先选择集中式 EKF 或小型因子图，避免本月同时引入分布式通信和复杂优化。观测模型表达的是车间距离。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本页定义月底实验矩阵。ATE 和 RPE 只有在获得可靠参考轨迹时才报告；没有真值时应清楚区分内部一致性与绝对精度。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月底成果强调可运行、可测量和可复现，不预先承诺达到某个厘米级精度。四类交付物分别覆盖代码、数据、演示和边界。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后续先完善地面平台，再迁移到 Unreal 月面环境，最后接入稀疏月球卫星测距并讨论 DEM、视觉和 PNT 的互补性。最终论文题目由实际失败模式和实验结果决定。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ACC1C1E-4B59-43FF-9F6A-1F386BDEB0A8}"/>
              </a:ext>
            </a:extLst>
          </p:cNvPr>
          <p:cNvSpPr>
            <a:spLocks noGrp="1"/>
          </p:cNvSpPr>
          <p:nvPr/>
        </p:nvSpPr>
        <p:spPr>
          <a:xfrm>
            <a:off x="13639800" y="8039100"/>
            <a:ext cx="1600200" cy="533400"/>
          </a:xfrm>
          <a:prstGeom prst="rect">
            <a:avLst/>
          </a:prstGeom>
          <a:solidFill>
            <a:srgbClr val="B600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807E040-49B1-404F-860A-EF3B82B3118F}"/>
              </a:ext>
            </a:extLst>
          </p:cNvPr>
          <p:cNvSpPr>
            <a:spLocks noGrp="1"/>
          </p:cNvSpPr>
          <p:nvPr/>
        </p:nvSpPr>
        <p:spPr>
          <a:xfrm>
            <a:off x="13811250" y="8124825"/>
            <a:ext cx="1285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3795"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Page   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E62BDF6-5806-49C2-9F14-1230FCC070C7}"/>
              </a:ext>
            </a:extLst>
          </p:cNvPr>
          <p:cNvSpPr>
            <a:spLocks noGrp="1"/>
          </p:cNvSpPr>
          <p:nvPr/>
        </p:nvSpPr>
        <p:spPr>
          <a:xfrm>
            <a:off x="1047750" y="2457450"/>
            <a:ext cx="114300" cy="2714625"/>
          </a:xfrm>
          <a:prstGeom prst="rect">
            <a:avLst/>
          </a:prstGeom>
          <a:solidFill>
            <a:srgbClr val="B600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3E3560E-08EE-4C3D-A2F2-99F74EF0D98D}"/>
              </a:ext>
            </a:extLst>
          </p:cNvPr>
          <p:cNvSpPr>
            <a:spLocks noGrp="1"/>
          </p:cNvSpPr>
          <p:nvPr/>
        </p:nvSpPr>
        <p:spPr>
          <a:xfrm>
            <a:off x="1466850" y="2571750"/>
            <a:ext cx="98107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412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 dirty="0" err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深圳研究院月度研究计划</a:t>
            </a:r>
            <a:endParaRPr sz="4125" b="1" dirty="0">
              <a:solidFill>
                <a:srgbClr val="123F6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D7B4FC3-C7F2-466F-B00D-0EF4D988B58D}"/>
              </a:ext>
            </a:extLst>
          </p:cNvPr>
          <p:cNvSpPr>
            <a:spLocks noGrp="1"/>
          </p:cNvSpPr>
          <p:nvPr/>
        </p:nvSpPr>
        <p:spPr>
          <a:xfrm>
            <a:off x="1504950" y="3390900"/>
            <a:ext cx="10287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75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 dirty="0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rPr>
              <a:t>Monthly Research Plan at the Shenzhen Research Institute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645BB84-F13F-4409-99D9-6FE08666133D}"/>
              </a:ext>
            </a:extLst>
          </p:cNvPr>
          <p:cNvSpPr>
            <a:spLocks noGrp="1"/>
          </p:cNvSpPr>
          <p:nvPr/>
        </p:nvSpPr>
        <p:spPr>
          <a:xfrm>
            <a:off x="1504950" y="4171950"/>
            <a:ext cx="8858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3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325" b="1" dirty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多</a:t>
            </a:r>
            <a:r>
              <a:rPr sz="2325" b="1" dirty="0" err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车协同定位与</a:t>
            </a:r>
            <a:r>
              <a:rPr sz="2325" b="1" dirty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 UWB </a:t>
            </a:r>
            <a:r>
              <a:rPr sz="2325" b="1" dirty="0" err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地面验证</a:t>
            </a:r>
            <a:endParaRPr sz="2325" b="1" dirty="0">
              <a:solidFill>
                <a:srgbClr val="26374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C2B504B-B2E8-48FF-9A19-E2DDE66ABEBE}"/>
              </a:ext>
            </a:extLst>
          </p:cNvPr>
          <p:cNvSpPr>
            <a:spLocks noGrp="1"/>
          </p:cNvSpPr>
          <p:nvPr/>
        </p:nvSpPr>
        <p:spPr>
          <a:xfrm>
            <a:off x="1504950" y="4629150"/>
            <a:ext cx="9906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Dual-Robot Cooperative Localization and UWB Ground Validation</a:t>
            </a:r>
          </a:p>
        </p:txBody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72A1B7E6-39D4-471C-BBDE-2FF365C452AF}"/>
              </a:ext>
            </a:extLst>
          </p:cNvPr>
          <p:cNvSpPr>
            <a:spLocks noGrp="1"/>
          </p:cNvSpPr>
          <p:nvPr/>
        </p:nvSpPr>
        <p:spPr>
          <a:xfrm>
            <a:off x="1504950" y="5362575"/>
            <a:ext cx="6858000" cy="19050"/>
          </a:xfrm>
          <a:prstGeom prst="line">
            <a:avLst/>
          </a:prstGeom>
          <a:noFill/>
          <a:ln w="19050">
            <a:solidFill>
              <a:srgbClr val="BDD3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40D927E-0D3F-4703-86A1-7F549B659BD6}"/>
              </a:ext>
            </a:extLst>
          </p:cNvPr>
          <p:cNvSpPr>
            <a:spLocks noGrp="1"/>
          </p:cNvSpPr>
          <p:nvPr/>
        </p:nvSpPr>
        <p:spPr>
          <a:xfrm>
            <a:off x="1504950" y="5600700"/>
            <a:ext cx="7810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dirty="0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2026年9月  </a:t>
            </a:r>
          </a:p>
        </p:txBody>
      </p:sp>
    </p:spTree>
    <p:extLst>
      <p:ext uri="{BB962C8B-B14F-4D97-AF65-F5344CB8AC3E}">
        <p14:creationId xmlns:p14="http://schemas.microsoft.com/office/powerpoint/2010/main" val="2071352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 3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5250" y="0"/>
            <a:ext cx="15240000" cy="85725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58B1A2BB-927F-49AD-B200-645B86222200}"/>
              </a:ext>
            </a:extLst>
          </p:cNvPr>
          <p:cNvSpPr>
            <a:spLocks noGrp="1"/>
          </p:cNvSpPr>
          <p:nvPr/>
        </p:nvSpPr>
        <p:spPr>
          <a:xfrm>
            <a:off x="13639800" y="8039100"/>
            <a:ext cx="1600200" cy="533400"/>
          </a:xfrm>
          <a:prstGeom prst="rect">
            <a:avLst/>
          </a:prstGeom>
          <a:solidFill>
            <a:srgbClr val="B600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EC26C45-8419-4181-A020-249A17FA3794}"/>
              </a:ext>
            </a:extLst>
          </p:cNvPr>
          <p:cNvSpPr>
            <a:spLocks noGrp="1"/>
          </p:cNvSpPr>
          <p:nvPr/>
        </p:nvSpPr>
        <p:spPr>
          <a:xfrm>
            <a:off x="13811250" y="8124825"/>
            <a:ext cx="1285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3795"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Page   2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9A9DB60-F29A-4B1A-A807-F3A81D902E7B}"/>
              </a:ext>
            </a:extLst>
          </p:cNvPr>
          <p:cNvSpPr>
            <a:spLocks noGrp="1"/>
          </p:cNvSpPr>
          <p:nvPr/>
        </p:nvSpPr>
        <p:spPr>
          <a:xfrm>
            <a:off x="628650" y="1000125"/>
            <a:ext cx="85725" cy="695325"/>
          </a:xfrm>
          <a:prstGeom prst="rect">
            <a:avLst/>
          </a:prstGeom>
          <a:solidFill>
            <a:srgbClr val="B600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2BF96EE-C3B7-425C-9F2B-F225F23993B2}"/>
              </a:ext>
            </a:extLst>
          </p:cNvPr>
          <p:cNvSpPr>
            <a:spLocks noGrp="1"/>
          </p:cNvSpPr>
          <p:nvPr/>
        </p:nvSpPr>
        <p:spPr>
          <a:xfrm>
            <a:off x="857250" y="885825"/>
            <a:ext cx="68580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4482"/>
          </a:bodyPr>
          <a:lstStyle/>
          <a:p>
            <a:pPr algn="l">
              <a:lnSpc>
                <a:spcPct val="105000"/>
              </a:lnSpc>
              <a:buNone/>
              <a:defRPr sz="31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当前基础与本月目标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9ABE86C-1F7B-40F6-9726-7D4619B2B374}"/>
              </a:ext>
            </a:extLst>
          </p:cNvPr>
          <p:cNvSpPr>
            <a:spLocks noGrp="1"/>
          </p:cNvSpPr>
          <p:nvPr/>
        </p:nvSpPr>
        <p:spPr>
          <a:xfrm>
            <a:off x="876300" y="1381125"/>
            <a:ext cx="78105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rPr>
              <a:t>Current Baseline and Monthly Target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C91DE5A-E48D-4FCC-9D10-971E1890B6BB}"/>
              </a:ext>
            </a:extLst>
          </p:cNvPr>
          <p:cNvSpPr>
            <a:spLocks noGrp="1"/>
          </p:cNvSpPr>
          <p:nvPr/>
        </p:nvSpPr>
        <p:spPr>
          <a:xfrm>
            <a:off x="742950" y="2019300"/>
            <a:ext cx="6191250" cy="4333875"/>
          </a:xfrm>
          <a:prstGeom prst="roundRect">
            <a:avLst>
              <a:gd name="adj" fmla="val 3516"/>
            </a:avLst>
          </a:prstGeom>
          <a:solidFill>
            <a:srgbClr val="F8FBFD"/>
          </a:solidFill>
          <a:ln w="9525">
            <a:solidFill>
              <a:srgbClr val="BDD3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24493AAB-737C-4FDB-96DE-0CC0D6066B1C}"/>
              </a:ext>
            </a:extLst>
          </p:cNvPr>
          <p:cNvSpPr>
            <a:spLocks noGrp="1"/>
          </p:cNvSpPr>
          <p:nvPr/>
        </p:nvSpPr>
        <p:spPr>
          <a:xfrm>
            <a:off x="7524750" y="2019300"/>
            <a:ext cx="6934200" cy="4333875"/>
          </a:xfrm>
          <a:prstGeom prst="roundRect">
            <a:avLst>
              <a:gd name="adj" fmla="val 3516"/>
            </a:avLst>
          </a:prstGeom>
          <a:solidFill>
            <a:srgbClr val="EFF6FA"/>
          </a:solidFill>
          <a:ln w="11430">
            <a:solidFill>
              <a:srgbClr val="49A8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E5BEA00-00E3-454B-9B57-479698B919A5}"/>
              </a:ext>
            </a:extLst>
          </p:cNvPr>
          <p:cNvSpPr>
            <a:spLocks noGrp="1"/>
          </p:cNvSpPr>
          <p:nvPr/>
        </p:nvSpPr>
        <p:spPr>
          <a:xfrm>
            <a:off x="1028700" y="2247900"/>
            <a:ext cx="2476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7286"/>
          </a:bodyPr>
          <a:lstStyle/>
          <a:p>
            <a:pPr algn="l">
              <a:lnSpc>
                <a:spcPct val="105000"/>
              </a:lnSpc>
              <a:buNone/>
              <a:defRPr sz="232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已有基础</a:t>
            </a:r>
            <a:endParaRPr sz="2325" b="1" dirty="0">
              <a:solidFill>
                <a:srgbClr val="123F6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99FB69A-A366-4D81-93E9-2CEE78EA4E0F}"/>
              </a:ext>
            </a:extLst>
          </p:cNvPr>
          <p:cNvSpPr>
            <a:spLocks noGrp="1"/>
          </p:cNvSpPr>
          <p:nvPr/>
        </p:nvSpPr>
        <p:spPr>
          <a:xfrm>
            <a:off x="4095750" y="2324100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275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rPr>
              <a:t>CURRENT BASELINE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80C1FD7A-8DCF-403D-B9F8-1BC5BCE8421D}"/>
              </a:ext>
            </a:extLst>
          </p:cNvPr>
          <p:cNvSpPr>
            <a:spLocks noGrp="1"/>
          </p:cNvSpPr>
          <p:nvPr/>
        </p:nvSpPr>
        <p:spPr>
          <a:xfrm>
            <a:off x="1066800" y="2943225"/>
            <a:ext cx="114300" cy="114300"/>
          </a:xfrm>
          <a:prstGeom prst="ellipse">
            <a:avLst/>
          </a:prstGeom>
          <a:solidFill>
            <a:srgbClr val="0078B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6CE73D3-F1BE-43B4-9AB9-98813BC2B4F2}"/>
              </a:ext>
            </a:extLst>
          </p:cNvPr>
          <p:cNvSpPr>
            <a:spLocks noGrp="1"/>
          </p:cNvSpPr>
          <p:nvPr/>
        </p:nvSpPr>
        <p:spPr>
          <a:xfrm>
            <a:off x="1295400" y="2876550"/>
            <a:ext cx="50101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3214"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单车底盘、SSH 与话题排查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777112F-14D5-4684-9512-03F39EF621E0}"/>
              </a:ext>
            </a:extLst>
          </p:cNvPr>
          <p:cNvSpPr>
            <a:spLocks noGrp="1"/>
          </p:cNvSpPr>
          <p:nvPr/>
        </p:nvSpPr>
        <p:spPr>
          <a:xfrm>
            <a:off x="1295400" y="3171825"/>
            <a:ext cx="5010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Chassis bring-up, SSH and ROS topic diagnostics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CB1CE657-6572-41B4-A287-224BF6AA388E}"/>
              </a:ext>
            </a:extLst>
          </p:cNvPr>
          <p:cNvSpPr>
            <a:spLocks noGrp="1"/>
          </p:cNvSpPr>
          <p:nvPr/>
        </p:nvSpPr>
        <p:spPr>
          <a:xfrm>
            <a:off x="1066800" y="3714750"/>
            <a:ext cx="114300" cy="114300"/>
          </a:xfrm>
          <a:prstGeom prst="ellipse">
            <a:avLst/>
          </a:prstGeom>
          <a:solidFill>
            <a:srgbClr val="0078B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3072F75-6DE5-4505-ABB6-096F95FC116D}"/>
              </a:ext>
            </a:extLst>
          </p:cNvPr>
          <p:cNvSpPr>
            <a:spLocks noGrp="1"/>
          </p:cNvSpPr>
          <p:nvPr/>
        </p:nvSpPr>
        <p:spPr>
          <a:xfrm>
            <a:off x="1295400" y="3648075"/>
            <a:ext cx="50101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3214"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激光雷达跟随与二维建图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F9CDFFA-CBCB-48D2-8331-B18C40A9D668}"/>
              </a:ext>
            </a:extLst>
          </p:cNvPr>
          <p:cNvSpPr>
            <a:spLocks noGrp="1"/>
          </p:cNvSpPr>
          <p:nvPr/>
        </p:nvSpPr>
        <p:spPr>
          <a:xfrm>
            <a:off x="1295400" y="3943350"/>
            <a:ext cx="5010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LiDAR following and 2D mapping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3D28042C-8EDF-472E-94C6-B0EF18A0A5EE}"/>
              </a:ext>
            </a:extLst>
          </p:cNvPr>
          <p:cNvSpPr>
            <a:spLocks noGrp="1"/>
          </p:cNvSpPr>
          <p:nvPr/>
        </p:nvSpPr>
        <p:spPr>
          <a:xfrm>
            <a:off x="1066800" y="4486275"/>
            <a:ext cx="114300" cy="114300"/>
          </a:xfrm>
          <a:prstGeom prst="ellipse">
            <a:avLst/>
          </a:prstGeom>
          <a:solidFill>
            <a:srgbClr val="0078B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51FFE91-5448-4DEE-B364-D2B34292A678}"/>
              </a:ext>
            </a:extLst>
          </p:cNvPr>
          <p:cNvSpPr>
            <a:spLocks noGrp="1"/>
          </p:cNvSpPr>
          <p:nvPr/>
        </p:nvSpPr>
        <p:spPr>
          <a:xfrm>
            <a:off x="1295400" y="4419600"/>
            <a:ext cx="50101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3214"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AMCL 单点及多点导航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5AA1469-059D-435E-B1A8-D32BEEAC4FF1}"/>
              </a:ext>
            </a:extLst>
          </p:cNvPr>
          <p:cNvSpPr>
            <a:spLocks noGrp="1"/>
          </p:cNvSpPr>
          <p:nvPr/>
        </p:nvSpPr>
        <p:spPr>
          <a:xfrm>
            <a:off x="1295400" y="4714875"/>
            <a:ext cx="5010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AMCL localization and waypoint navigation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30A81F87-2681-486C-839D-52FF87094289}"/>
              </a:ext>
            </a:extLst>
          </p:cNvPr>
          <p:cNvSpPr>
            <a:spLocks noGrp="1"/>
          </p:cNvSpPr>
          <p:nvPr/>
        </p:nvSpPr>
        <p:spPr>
          <a:xfrm>
            <a:off x="1066800" y="5257800"/>
            <a:ext cx="114300" cy="114300"/>
          </a:xfrm>
          <a:prstGeom prst="ellipse">
            <a:avLst/>
          </a:prstGeom>
          <a:solidFill>
            <a:srgbClr val="0078B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8E5B6BD-E13F-4C33-8C81-C480237F6FCF}"/>
              </a:ext>
            </a:extLst>
          </p:cNvPr>
          <p:cNvSpPr>
            <a:spLocks noGrp="1"/>
          </p:cNvSpPr>
          <p:nvPr/>
        </p:nvSpPr>
        <p:spPr>
          <a:xfrm>
            <a:off x="1295400" y="5191125"/>
            <a:ext cx="50101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3214"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串口、TF 与导航故障排查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7349792-2206-4BDE-8561-77F510363805}"/>
              </a:ext>
            </a:extLst>
          </p:cNvPr>
          <p:cNvSpPr>
            <a:spLocks noGrp="1"/>
          </p:cNvSpPr>
          <p:nvPr/>
        </p:nvSpPr>
        <p:spPr>
          <a:xfrm>
            <a:off x="1295400" y="5486400"/>
            <a:ext cx="5010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Serial, TF and navigation troubleshooting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AF92AA4-E8DC-4392-9564-571367E83FAE}"/>
              </a:ext>
            </a:extLst>
          </p:cNvPr>
          <p:cNvSpPr>
            <a:spLocks noGrp="1"/>
          </p:cNvSpPr>
          <p:nvPr/>
        </p:nvSpPr>
        <p:spPr>
          <a:xfrm>
            <a:off x="7829550" y="2247900"/>
            <a:ext cx="2476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7286"/>
          </a:bodyPr>
          <a:lstStyle/>
          <a:p>
            <a:pPr algn="l">
              <a:lnSpc>
                <a:spcPct val="105000"/>
              </a:lnSpc>
              <a:buNone/>
              <a:defRPr sz="232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月底目标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3DE1106-53FA-4FD6-8ADA-A3FFEA903F14}"/>
              </a:ext>
            </a:extLst>
          </p:cNvPr>
          <p:cNvSpPr>
            <a:spLocks noGrp="1"/>
          </p:cNvSpPr>
          <p:nvPr/>
        </p:nvSpPr>
        <p:spPr>
          <a:xfrm>
            <a:off x="11334750" y="2324100"/>
            <a:ext cx="27146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275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rPr>
              <a:t>MONTH-END TARGET</a:t>
            </a: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5AF1601C-4690-4AE3-8A2C-ABE120CCD8FF}"/>
              </a:ext>
            </a:extLst>
          </p:cNvPr>
          <p:cNvSpPr>
            <a:spLocks noGrp="1"/>
          </p:cNvSpPr>
          <p:nvPr/>
        </p:nvSpPr>
        <p:spPr>
          <a:xfrm>
            <a:off x="7867650" y="2943225"/>
            <a:ext cx="114300" cy="114300"/>
          </a:xfrm>
          <a:prstGeom prst="ellipse">
            <a:avLst/>
          </a:prstGeom>
          <a:solidFill>
            <a:srgbClr val="B600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4FBA465-F787-4F57-B094-ED7323B94EBC}"/>
              </a:ext>
            </a:extLst>
          </p:cNvPr>
          <p:cNvSpPr>
            <a:spLocks noGrp="1"/>
          </p:cNvSpPr>
          <p:nvPr/>
        </p:nvSpPr>
        <p:spPr>
          <a:xfrm>
            <a:off x="8096250" y="2876550"/>
            <a:ext cx="54864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3214"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两辆车同时上线且互不干扰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B1690CD-415F-4F8B-B930-0FB6033ECC7E}"/>
              </a:ext>
            </a:extLst>
          </p:cNvPr>
          <p:cNvSpPr>
            <a:spLocks noGrp="1"/>
          </p:cNvSpPr>
          <p:nvPr/>
        </p:nvSpPr>
        <p:spPr>
          <a:xfrm>
            <a:off x="8096250" y="3171825"/>
            <a:ext cx="5486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Two robots online with isolated control and data</a:t>
            </a: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BA42B00E-ED3C-4965-89E9-A302BB6F5540}"/>
              </a:ext>
            </a:extLst>
          </p:cNvPr>
          <p:cNvSpPr>
            <a:spLocks noGrp="1"/>
          </p:cNvSpPr>
          <p:nvPr/>
        </p:nvSpPr>
        <p:spPr>
          <a:xfrm>
            <a:off x="7867650" y="3714750"/>
            <a:ext cx="114300" cy="114300"/>
          </a:xfrm>
          <a:prstGeom prst="ellipse">
            <a:avLst/>
          </a:prstGeom>
          <a:solidFill>
            <a:srgbClr val="B600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53528A5-9A50-4076-A811-7E82AE34E3ED}"/>
              </a:ext>
            </a:extLst>
          </p:cNvPr>
          <p:cNvSpPr>
            <a:spLocks noGrp="1"/>
          </p:cNvSpPr>
          <p:nvPr/>
        </p:nvSpPr>
        <p:spPr>
          <a:xfrm>
            <a:off x="8096250" y="3648075"/>
            <a:ext cx="54864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3214"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UWB 测距完成标定和质量分析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4A9B232-D139-41D1-966E-67D5B579C72C}"/>
              </a:ext>
            </a:extLst>
          </p:cNvPr>
          <p:cNvSpPr>
            <a:spLocks noGrp="1"/>
          </p:cNvSpPr>
          <p:nvPr/>
        </p:nvSpPr>
        <p:spPr>
          <a:xfrm>
            <a:off x="8096250" y="3943350"/>
            <a:ext cx="5486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Calibrated UWB ranging with quality statistics</a:t>
            </a: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84D9B20F-E599-44D6-85FD-A5B0764F0B04}"/>
              </a:ext>
            </a:extLst>
          </p:cNvPr>
          <p:cNvSpPr>
            <a:spLocks noGrp="1"/>
          </p:cNvSpPr>
          <p:nvPr/>
        </p:nvSpPr>
        <p:spPr>
          <a:xfrm>
            <a:off x="7867650" y="4486275"/>
            <a:ext cx="114300" cy="114300"/>
          </a:xfrm>
          <a:prstGeom prst="ellipse">
            <a:avLst/>
          </a:prstGeom>
          <a:solidFill>
            <a:srgbClr val="B600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D3D10A8-F10A-40D3-B9DF-CCDB6F9CF613}"/>
              </a:ext>
            </a:extLst>
          </p:cNvPr>
          <p:cNvSpPr>
            <a:spLocks noGrp="1"/>
          </p:cNvSpPr>
          <p:nvPr/>
        </p:nvSpPr>
        <p:spPr>
          <a:xfrm>
            <a:off x="8096250" y="4419600"/>
            <a:ext cx="54864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3214"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建立独立定位基线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7B83EB8-EDDC-4526-8E0A-B55D2C89085A}"/>
              </a:ext>
            </a:extLst>
          </p:cNvPr>
          <p:cNvSpPr>
            <a:spLocks noGrp="1"/>
          </p:cNvSpPr>
          <p:nvPr/>
        </p:nvSpPr>
        <p:spPr>
          <a:xfrm>
            <a:off x="8096250" y="4714875"/>
            <a:ext cx="5486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Independent localization baseline for both robots</a:t>
            </a: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20846C50-AC38-4E23-AAEC-71BF941F515A}"/>
              </a:ext>
            </a:extLst>
          </p:cNvPr>
          <p:cNvSpPr>
            <a:spLocks noGrp="1"/>
          </p:cNvSpPr>
          <p:nvPr/>
        </p:nvSpPr>
        <p:spPr>
          <a:xfrm>
            <a:off x="7867650" y="5257800"/>
            <a:ext cx="114300" cy="114300"/>
          </a:xfrm>
          <a:prstGeom prst="ellipse">
            <a:avLst/>
          </a:prstGeom>
          <a:solidFill>
            <a:srgbClr val="B600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625CC15-373D-4740-96F7-7E40ED03CBD4}"/>
              </a:ext>
            </a:extLst>
          </p:cNvPr>
          <p:cNvSpPr>
            <a:spLocks noGrp="1"/>
          </p:cNvSpPr>
          <p:nvPr/>
        </p:nvSpPr>
        <p:spPr>
          <a:xfrm>
            <a:off x="8096250" y="5191125"/>
            <a:ext cx="54864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3214"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完成首个协同定位演示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0D02437-EF58-4CD7-A921-F57C08FB6D75}"/>
              </a:ext>
            </a:extLst>
          </p:cNvPr>
          <p:cNvSpPr>
            <a:spLocks noGrp="1"/>
          </p:cNvSpPr>
          <p:nvPr/>
        </p:nvSpPr>
        <p:spPr>
          <a:xfrm>
            <a:off x="8096250" y="5486400"/>
            <a:ext cx="5486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First cooperative-localization demonstration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E4C37C46-3D08-4174-BB18-7CB03A26F92D}"/>
              </a:ext>
            </a:extLst>
          </p:cNvPr>
          <p:cNvSpPr>
            <a:spLocks noGrp="1"/>
          </p:cNvSpPr>
          <p:nvPr/>
        </p:nvSpPr>
        <p:spPr>
          <a:xfrm>
            <a:off x="76200" y="6519862"/>
            <a:ext cx="13716000" cy="628650"/>
          </a:xfrm>
          <a:prstGeom prst="roundRect">
            <a:avLst>
              <a:gd name="adj" fmla="val 21212"/>
            </a:avLst>
          </a:prstGeom>
          <a:solidFill>
            <a:srgbClr val="123F63"/>
          </a:solidFill>
          <a:ln w="0">
            <a:noFill/>
          </a:ln>
        </p:spPr>
        <p:txBody>
          <a:bodyPr/>
          <a:lstStyle/>
          <a:p>
            <a:pPr algn="r">
              <a:lnSpc>
                <a:spcPct val="105000"/>
              </a:lnSpc>
              <a:buNone/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endParaRPr lang="en-US" altLang="zh-CN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C2C16E3-581D-4355-A2EC-5365DB627927}"/>
              </a:ext>
            </a:extLst>
          </p:cNvPr>
          <p:cNvSpPr>
            <a:spLocks noGrp="1"/>
          </p:cNvSpPr>
          <p:nvPr/>
        </p:nvSpPr>
        <p:spPr>
          <a:xfrm>
            <a:off x="971550" y="7200900"/>
            <a:ext cx="7334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7217" lnSpcReduction="10000"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endParaRPr sz="1725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D76F450-0904-40A2-A801-2D5A6E28C2F1}"/>
              </a:ext>
            </a:extLst>
          </p:cNvPr>
          <p:cNvSpPr>
            <a:spLocks noGrp="1"/>
          </p:cNvSpPr>
          <p:nvPr/>
        </p:nvSpPr>
        <p:spPr>
          <a:xfrm>
            <a:off x="8477250" y="7219950"/>
            <a:ext cx="571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Autofit/>
          </a:bodyPr>
          <a:lstStyle/>
          <a:p>
            <a:pPr algn="r">
              <a:lnSpc>
                <a:spcPct val="105000"/>
              </a:lnSpc>
              <a:buNone/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Scope: complete t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203BBEC9-41DD-856C-C88D-3756D2DE4476}"/>
              </a:ext>
            </a:extLst>
          </p:cNvPr>
          <p:cNvSpPr txBox="1"/>
          <p:nvPr/>
        </p:nvSpPr>
        <p:spPr>
          <a:xfrm>
            <a:off x="628650" y="6621243"/>
            <a:ext cx="48406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Scope: complete the ground-system loop 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4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44" y="0"/>
            <a:ext cx="15240000" cy="85725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484A9B4-BF67-49BD-89A5-2435B8D24D9E}"/>
              </a:ext>
            </a:extLst>
          </p:cNvPr>
          <p:cNvSpPr>
            <a:spLocks noGrp="1"/>
          </p:cNvSpPr>
          <p:nvPr/>
        </p:nvSpPr>
        <p:spPr>
          <a:xfrm>
            <a:off x="13639800" y="8039100"/>
            <a:ext cx="1600200" cy="533400"/>
          </a:xfrm>
          <a:prstGeom prst="rect">
            <a:avLst/>
          </a:prstGeom>
          <a:solidFill>
            <a:srgbClr val="B600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41C8AF0-FF9F-408C-B45F-0323998D3CF1}"/>
              </a:ext>
            </a:extLst>
          </p:cNvPr>
          <p:cNvSpPr>
            <a:spLocks noGrp="1"/>
          </p:cNvSpPr>
          <p:nvPr/>
        </p:nvSpPr>
        <p:spPr>
          <a:xfrm>
            <a:off x="13811250" y="8124825"/>
            <a:ext cx="1285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3795"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Page   3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07A8A9C-1C4B-4FEF-A6C2-5324EE21EE2F}"/>
              </a:ext>
            </a:extLst>
          </p:cNvPr>
          <p:cNvSpPr>
            <a:spLocks noGrp="1"/>
          </p:cNvSpPr>
          <p:nvPr/>
        </p:nvSpPr>
        <p:spPr>
          <a:xfrm>
            <a:off x="628650" y="1000125"/>
            <a:ext cx="85725" cy="695325"/>
          </a:xfrm>
          <a:prstGeom prst="rect">
            <a:avLst/>
          </a:prstGeom>
          <a:solidFill>
            <a:srgbClr val="B600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F17049F-051B-467A-A10B-FBA58D5845FE}"/>
              </a:ext>
            </a:extLst>
          </p:cNvPr>
          <p:cNvSpPr>
            <a:spLocks noGrp="1"/>
          </p:cNvSpPr>
          <p:nvPr/>
        </p:nvSpPr>
        <p:spPr>
          <a:xfrm>
            <a:off x="857250" y="885825"/>
            <a:ext cx="68580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4482"/>
          </a:bodyPr>
          <a:lstStyle/>
          <a:p>
            <a:pPr algn="l">
              <a:lnSpc>
                <a:spcPct val="105000"/>
              </a:lnSpc>
              <a:buNone/>
              <a:defRPr sz="31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endParaRPr sz="3150" b="1" dirty="0">
              <a:solidFill>
                <a:srgbClr val="123F6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385B77E-3A87-4254-B878-B778C66F3189}"/>
              </a:ext>
            </a:extLst>
          </p:cNvPr>
          <p:cNvSpPr>
            <a:spLocks noGrp="1"/>
          </p:cNvSpPr>
          <p:nvPr/>
        </p:nvSpPr>
        <p:spPr>
          <a:xfrm>
            <a:off x="792480" y="1000125"/>
            <a:ext cx="789432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rPr>
              <a:t>Target System Architecture </a:t>
            </a:r>
            <a:r>
              <a:rPr lang="en-US" sz="2400" b="1" dirty="0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zh-CN" altLang="en-US" sz="2400" b="1" dirty="0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rPr>
              <a:t>初步结构</a:t>
            </a:r>
            <a:endParaRPr sz="2400" b="1" dirty="0">
              <a:solidFill>
                <a:srgbClr val="0078B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8F50398-7095-4FC1-98A1-B36DF0C01D28}"/>
              </a:ext>
            </a:extLst>
          </p:cNvPr>
          <p:cNvSpPr>
            <a:spLocks noGrp="1"/>
          </p:cNvSpPr>
          <p:nvPr/>
        </p:nvSpPr>
        <p:spPr>
          <a:xfrm>
            <a:off x="5334000" y="2133600"/>
            <a:ext cx="4572000" cy="1143000"/>
          </a:xfrm>
          <a:prstGeom prst="roundRect">
            <a:avLst>
              <a:gd name="adj" fmla="val 15000"/>
            </a:avLst>
          </a:prstGeom>
          <a:solidFill>
            <a:srgbClr val="123F6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E802071-76DE-405A-935A-43A0B16BEE60}"/>
              </a:ext>
            </a:extLst>
          </p:cNvPr>
          <p:cNvSpPr>
            <a:spLocks noGrp="1"/>
          </p:cNvSpPr>
          <p:nvPr/>
        </p:nvSpPr>
        <p:spPr>
          <a:xfrm>
            <a:off x="5619750" y="2324100"/>
            <a:ext cx="4000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8203" lnSpcReduction="10000"/>
          </a:bodyPr>
          <a:lstStyle/>
          <a:p>
            <a:pPr algn="ctr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虚拟机</a:t>
            </a:r>
            <a:r>
              <a:rPr sz="21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21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中心端</a:t>
            </a:r>
            <a:endParaRPr sz="210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B5008F4-CEEA-4959-9623-B52CB3D02BD4}"/>
              </a:ext>
            </a:extLst>
          </p:cNvPr>
          <p:cNvSpPr>
            <a:spLocks noGrp="1"/>
          </p:cNvSpPr>
          <p:nvPr/>
        </p:nvSpPr>
        <p:spPr>
          <a:xfrm>
            <a:off x="5619750" y="2733675"/>
            <a:ext cx="4000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ROS Master · RViz · rosbag · Fusion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0CD6FCE-6DF5-43F0-A47E-1FCECB52FD4A}"/>
              </a:ext>
            </a:extLst>
          </p:cNvPr>
          <p:cNvSpPr>
            <a:spLocks noGrp="1"/>
          </p:cNvSpPr>
          <p:nvPr/>
        </p:nvSpPr>
        <p:spPr>
          <a:xfrm>
            <a:off x="1428750" y="4524375"/>
            <a:ext cx="4286250" cy="1619250"/>
          </a:xfrm>
          <a:prstGeom prst="roundRect">
            <a:avLst>
              <a:gd name="adj" fmla="val 10588"/>
            </a:avLst>
          </a:prstGeom>
          <a:solidFill>
            <a:srgbClr val="EFF6FA"/>
          </a:solidFill>
          <a:ln w="19050">
            <a:solidFill>
              <a:srgbClr val="0078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4754712-0C72-48B9-BE09-E5E6AE8007DE}"/>
              </a:ext>
            </a:extLst>
          </p:cNvPr>
          <p:cNvSpPr>
            <a:spLocks noGrp="1"/>
          </p:cNvSpPr>
          <p:nvPr/>
        </p:nvSpPr>
        <p:spPr>
          <a:xfrm>
            <a:off x="1714500" y="4714875"/>
            <a:ext cx="9048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rPr>
              <a:t>CAR 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C58D0B9-2F91-4ECB-9920-200908955691}"/>
              </a:ext>
            </a:extLst>
          </p:cNvPr>
          <p:cNvSpPr>
            <a:spLocks noGrp="1"/>
          </p:cNvSpPr>
          <p:nvPr/>
        </p:nvSpPr>
        <p:spPr>
          <a:xfrm>
            <a:off x="1714500" y="5172075"/>
            <a:ext cx="36671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底盘 · 编码器里程计 · IMU · LiDAR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1F88E55-5F12-418E-BEA2-5624F62F9825}"/>
              </a:ext>
            </a:extLst>
          </p:cNvPr>
          <p:cNvSpPr>
            <a:spLocks noGrp="1"/>
          </p:cNvSpPr>
          <p:nvPr/>
        </p:nvSpPr>
        <p:spPr>
          <a:xfrm>
            <a:off x="1714500" y="5543550"/>
            <a:ext cx="36671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Chassis · wheel odometry · IMU · LiDAR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A4358F81-C39F-4445-9838-9EEC395548B9}"/>
              </a:ext>
            </a:extLst>
          </p:cNvPr>
          <p:cNvSpPr>
            <a:spLocks noGrp="1"/>
          </p:cNvSpPr>
          <p:nvPr/>
        </p:nvSpPr>
        <p:spPr>
          <a:xfrm>
            <a:off x="9525000" y="4524375"/>
            <a:ext cx="4286250" cy="1619250"/>
          </a:xfrm>
          <a:prstGeom prst="roundRect">
            <a:avLst>
              <a:gd name="adj" fmla="val 10588"/>
            </a:avLst>
          </a:prstGeom>
          <a:solidFill>
            <a:srgbClr val="EFF6FA"/>
          </a:solidFill>
          <a:ln w="19050">
            <a:solidFill>
              <a:srgbClr val="0078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1F0F36-504E-4BFB-9BA3-015FD9514978}"/>
              </a:ext>
            </a:extLst>
          </p:cNvPr>
          <p:cNvSpPr>
            <a:spLocks noGrp="1"/>
          </p:cNvSpPr>
          <p:nvPr/>
        </p:nvSpPr>
        <p:spPr>
          <a:xfrm>
            <a:off x="9810750" y="4714875"/>
            <a:ext cx="9048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rPr>
              <a:t>CAR 2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A1A84B4-7DA7-4782-91C0-BB9CE0FC96C2}"/>
              </a:ext>
            </a:extLst>
          </p:cNvPr>
          <p:cNvSpPr>
            <a:spLocks noGrp="1"/>
          </p:cNvSpPr>
          <p:nvPr/>
        </p:nvSpPr>
        <p:spPr>
          <a:xfrm>
            <a:off x="9810750" y="5172075"/>
            <a:ext cx="36671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底盘 · 编码器里程计 · IMU · LiDAR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EEF526E-B4A3-4A08-9955-FC14D351A031}"/>
              </a:ext>
            </a:extLst>
          </p:cNvPr>
          <p:cNvSpPr>
            <a:spLocks noGrp="1"/>
          </p:cNvSpPr>
          <p:nvPr/>
        </p:nvSpPr>
        <p:spPr>
          <a:xfrm>
            <a:off x="9810750" y="5543550"/>
            <a:ext cx="36671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Chassis · wheel odometry · IMU · LiDAR</a:t>
            </a:r>
          </a:p>
        </p:txBody>
      </p:sp>
      <p:cxnSp>
        <p:nvCxnSpPr>
          <p:cNvPr id="41" name="连接符: 肘形 40"/>
          <p:cNvCxnSpPr>
            <a:stCxn id="7" idx="2"/>
            <a:endCxn id="10" idx="0"/>
          </p:cNvCxnSpPr>
          <p:nvPr/>
        </p:nvCxnSpPr>
        <p:spPr>
          <a:xfrm flipH="1">
            <a:off x="3571875" y="3276600"/>
            <a:ext cx="4048125" cy="1247775"/>
          </a:xfrm>
          <a:prstGeom prst="bentConnector4">
            <a:avLst>
              <a:gd name="adj1" fmla="val 0"/>
              <a:gd name="adj2" fmla="val 50000"/>
            </a:avLst>
          </a:prstGeom>
          <a:ln w="28575">
            <a:solidFill>
              <a:srgbClr val="0078B5"/>
            </a:solidFill>
            <a:prstDash val="solid"/>
          </a:ln>
        </p:spPr>
      </p:cxnSp>
      <p:cxnSp>
        <p:nvCxnSpPr>
          <p:cNvPr id="42" name="连接符: 肘形 41"/>
          <p:cNvCxnSpPr>
            <a:stCxn id="7" idx="2"/>
            <a:endCxn id="14" idx="0"/>
          </p:cNvCxnSpPr>
          <p:nvPr/>
        </p:nvCxnSpPr>
        <p:spPr>
          <a:xfrm>
            <a:off x="7620000" y="3276600"/>
            <a:ext cx="4048125" cy="1247775"/>
          </a:xfrm>
          <a:prstGeom prst="bentConnector4">
            <a:avLst>
              <a:gd name="adj1" fmla="val 0"/>
              <a:gd name="adj2" fmla="val 50000"/>
            </a:avLst>
          </a:prstGeom>
          <a:ln w="28575">
            <a:solidFill>
              <a:srgbClr val="0078B5"/>
            </a:solidFill>
            <a:prstDash val="solid"/>
          </a:ln>
        </p:spPr>
      </p:cxnSp>
      <p:cxnSp>
        <p:nvCxnSpPr>
          <p:cNvPr id="43" name="直接箭头连接符 42"/>
          <p:cNvCxnSpPr>
            <a:stCxn id="10" idx="3"/>
            <a:endCxn id="14" idx="1"/>
          </p:cNvCxnSpPr>
          <p:nvPr/>
        </p:nvCxnSpPr>
        <p:spPr>
          <a:xfrm>
            <a:off x="5715000" y="5334000"/>
            <a:ext cx="3810000" cy="0"/>
          </a:xfrm>
          <a:prstGeom prst="straightConnector1">
            <a:avLst/>
          </a:prstGeom>
          <a:ln w="38100">
            <a:solidFill>
              <a:srgbClr val="B60032"/>
            </a:solidFill>
            <a:prstDash val="dash"/>
          </a:ln>
        </p:spPr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37274FFF-800B-4642-80CC-3C852E12A60B}"/>
              </a:ext>
            </a:extLst>
          </p:cNvPr>
          <p:cNvSpPr>
            <a:spLocks noGrp="1"/>
          </p:cNvSpPr>
          <p:nvPr/>
        </p:nvSpPr>
        <p:spPr>
          <a:xfrm>
            <a:off x="5743575" y="4933950"/>
            <a:ext cx="37623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rPr>
              <a:t>UWB 车间距离 / Inter-robot range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D9320D4-869E-4D5B-AE31-EEC78F67C430}"/>
              </a:ext>
            </a:extLst>
          </p:cNvPr>
          <p:cNvSpPr>
            <a:spLocks noGrp="1"/>
          </p:cNvSpPr>
          <p:nvPr/>
        </p:nvSpPr>
        <p:spPr>
          <a:xfrm>
            <a:off x="4438650" y="6496050"/>
            <a:ext cx="63627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共享 map；两套独立 odom 与 TF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1BC75EA-E324-42A3-9D13-E95E2C447778}"/>
              </a:ext>
            </a:extLst>
          </p:cNvPr>
          <p:cNvSpPr>
            <a:spLocks noGrp="1"/>
          </p:cNvSpPr>
          <p:nvPr/>
        </p:nvSpPr>
        <p:spPr>
          <a:xfrm>
            <a:off x="4438650" y="6829425"/>
            <a:ext cx="63627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Shared map with independent odometry and TF trees</a:t>
            </a:r>
          </a:p>
        </p:txBody>
      </p:sp>
    </p:spTree>
    <p:extLst>
      <p:ext uri="{BB962C8B-B14F-4D97-AF65-F5344CB8AC3E}">
        <p14:creationId xmlns:p14="http://schemas.microsoft.com/office/powerpoint/2010/main" val="1413703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 3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430675D-A48B-46BB-A363-9CD0EDF1D8AE}"/>
              </a:ext>
            </a:extLst>
          </p:cNvPr>
          <p:cNvSpPr>
            <a:spLocks noGrp="1"/>
          </p:cNvSpPr>
          <p:nvPr/>
        </p:nvSpPr>
        <p:spPr>
          <a:xfrm>
            <a:off x="13639800" y="8039100"/>
            <a:ext cx="1600200" cy="533400"/>
          </a:xfrm>
          <a:prstGeom prst="rect">
            <a:avLst/>
          </a:prstGeom>
          <a:solidFill>
            <a:srgbClr val="B600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726019F-A800-431F-BCF8-EC86A6761A8D}"/>
              </a:ext>
            </a:extLst>
          </p:cNvPr>
          <p:cNvSpPr>
            <a:spLocks noGrp="1"/>
          </p:cNvSpPr>
          <p:nvPr/>
        </p:nvSpPr>
        <p:spPr>
          <a:xfrm>
            <a:off x="13811250" y="8124825"/>
            <a:ext cx="1285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3795"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Page   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1D56750-5818-435E-BE2C-19F9E30294CA}"/>
              </a:ext>
            </a:extLst>
          </p:cNvPr>
          <p:cNvSpPr>
            <a:spLocks noGrp="1"/>
          </p:cNvSpPr>
          <p:nvPr/>
        </p:nvSpPr>
        <p:spPr>
          <a:xfrm>
            <a:off x="628650" y="1000125"/>
            <a:ext cx="85725" cy="695325"/>
          </a:xfrm>
          <a:prstGeom prst="rect">
            <a:avLst/>
          </a:prstGeom>
          <a:solidFill>
            <a:srgbClr val="B600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77E88A5-4721-4089-BDA2-9C49898359BB}"/>
              </a:ext>
            </a:extLst>
          </p:cNvPr>
          <p:cNvSpPr>
            <a:spLocks noGrp="1"/>
          </p:cNvSpPr>
          <p:nvPr/>
        </p:nvSpPr>
        <p:spPr>
          <a:xfrm>
            <a:off x="857250" y="885825"/>
            <a:ext cx="68580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4482"/>
          </a:bodyPr>
          <a:lstStyle/>
          <a:p>
            <a:pPr algn="l">
              <a:lnSpc>
                <a:spcPct val="105000"/>
              </a:lnSpc>
              <a:buNone/>
              <a:defRPr sz="31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dirty="0" err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第一</a:t>
            </a:r>
            <a:r>
              <a:rPr lang="zh-CN" altLang="en-US" sz="3150" b="1" dirty="0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步</a:t>
            </a:r>
            <a:r>
              <a:rPr sz="3150" b="1" dirty="0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sz="3150" b="1" dirty="0" err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双车基础与网络</a:t>
            </a:r>
            <a:endParaRPr sz="3150" b="1" dirty="0">
              <a:solidFill>
                <a:srgbClr val="123F6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8623AB9-9515-4947-A668-CA8D5382D187}"/>
              </a:ext>
            </a:extLst>
          </p:cNvPr>
          <p:cNvSpPr>
            <a:spLocks noGrp="1"/>
          </p:cNvSpPr>
          <p:nvPr/>
        </p:nvSpPr>
        <p:spPr>
          <a:xfrm>
            <a:off x="876300" y="1381125"/>
            <a:ext cx="78105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rPr>
              <a:t> Dual-Robot Bring-up and Networking</a:t>
            </a:r>
          </a:p>
        </p:txBody>
      </p:sp>
      <p:sp>
        <p:nvSpPr>
          <p:cNvPr id="7" name="直接连接符 6">
            <a:extLst>
              <a:ext uri="{FF2B5EF4-FFF2-40B4-BE49-F238E27FC236}">
                <a16:creationId xmlns:a16="http://schemas.microsoft.com/office/drawing/2014/main" id="{4EDFD79D-09DE-4A8D-AA6B-1EADCB7D2660}"/>
              </a:ext>
            </a:extLst>
          </p:cNvPr>
          <p:cNvSpPr>
            <a:spLocks noGrp="1"/>
          </p:cNvSpPr>
          <p:nvPr/>
        </p:nvSpPr>
        <p:spPr>
          <a:xfrm>
            <a:off x="1428750" y="3800475"/>
            <a:ext cx="12096750" cy="19050"/>
          </a:xfrm>
          <a:prstGeom prst="line">
            <a:avLst/>
          </a:prstGeom>
          <a:noFill/>
          <a:ln w="38100">
            <a:solidFill>
              <a:srgbClr val="BDD3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BAFD6BBF-561F-4ACD-90BB-2F4BA69A4304}"/>
              </a:ext>
            </a:extLst>
          </p:cNvPr>
          <p:cNvSpPr>
            <a:spLocks noGrp="1"/>
          </p:cNvSpPr>
          <p:nvPr/>
        </p:nvSpPr>
        <p:spPr>
          <a:xfrm>
            <a:off x="1219200" y="2571750"/>
            <a:ext cx="514350" cy="514350"/>
          </a:xfrm>
          <a:prstGeom prst="ellipse">
            <a:avLst/>
          </a:prstGeom>
          <a:solidFill>
            <a:srgbClr val="123F6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4C4FB18-472D-42D1-93B8-EB6605BD7F98}"/>
              </a:ext>
            </a:extLst>
          </p:cNvPr>
          <p:cNvSpPr>
            <a:spLocks noGrp="1"/>
          </p:cNvSpPr>
          <p:nvPr/>
        </p:nvSpPr>
        <p:spPr>
          <a:xfrm>
            <a:off x="1219200" y="2609850"/>
            <a:ext cx="5143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3DED8AA-E95F-4461-BEF7-AF47A3C98500}"/>
              </a:ext>
            </a:extLst>
          </p:cNvPr>
          <p:cNvSpPr>
            <a:spLocks noGrp="1"/>
          </p:cNvSpPr>
          <p:nvPr/>
        </p:nvSpPr>
        <p:spPr>
          <a:xfrm>
            <a:off x="1866900" y="2562225"/>
            <a:ext cx="21145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2593"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设备清点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FFFB32-BCBF-4471-BF18-9CCD5D3C1274}"/>
              </a:ext>
            </a:extLst>
          </p:cNvPr>
          <p:cNvSpPr>
            <a:spLocks noGrp="1"/>
          </p:cNvSpPr>
          <p:nvPr/>
        </p:nvSpPr>
        <p:spPr>
          <a:xfrm>
            <a:off x="1866900" y="2867025"/>
            <a:ext cx="21145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Hardware inventory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EBB7EE0-F05B-476E-AA14-E57A044560BF}"/>
              </a:ext>
            </a:extLst>
          </p:cNvPr>
          <p:cNvSpPr>
            <a:spLocks noGrp="1"/>
          </p:cNvSpPr>
          <p:nvPr/>
        </p:nvSpPr>
        <p:spPr>
          <a:xfrm>
            <a:off x="4381500" y="2571750"/>
            <a:ext cx="514350" cy="514350"/>
          </a:xfrm>
          <a:prstGeom prst="ellipse">
            <a:avLst/>
          </a:prstGeom>
          <a:solidFill>
            <a:srgbClr val="0078B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0A85806-10D1-4189-9857-C3BDFE904AB8}"/>
              </a:ext>
            </a:extLst>
          </p:cNvPr>
          <p:cNvSpPr>
            <a:spLocks noGrp="1"/>
          </p:cNvSpPr>
          <p:nvPr/>
        </p:nvSpPr>
        <p:spPr>
          <a:xfrm>
            <a:off x="4381500" y="2609850"/>
            <a:ext cx="5143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A2D5238-1764-4B9A-ADDC-416E11B57BB8}"/>
              </a:ext>
            </a:extLst>
          </p:cNvPr>
          <p:cNvSpPr>
            <a:spLocks noGrp="1"/>
          </p:cNvSpPr>
          <p:nvPr/>
        </p:nvSpPr>
        <p:spPr>
          <a:xfrm>
            <a:off x="5029200" y="2562225"/>
            <a:ext cx="23050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2593"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分别复现单车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CE951B4-0A64-4AD3-908C-8E589D65E589}"/>
              </a:ext>
            </a:extLst>
          </p:cNvPr>
          <p:cNvSpPr>
            <a:spLocks noGrp="1"/>
          </p:cNvSpPr>
          <p:nvPr/>
        </p:nvSpPr>
        <p:spPr>
          <a:xfrm>
            <a:off x="5029200" y="2867025"/>
            <a:ext cx="2305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Reproduce each robot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DADAC093-0FCA-499B-8808-1F1C76535020}"/>
              </a:ext>
            </a:extLst>
          </p:cNvPr>
          <p:cNvSpPr>
            <a:spLocks noGrp="1"/>
          </p:cNvSpPr>
          <p:nvPr/>
        </p:nvSpPr>
        <p:spPr>
          <a:xfrm>
            <a:off x="7667625" y="2571750"/>
            <a:ext cx="514350" cy="514350"/>
          </a:xfrm>
          <a:prstGeom prst="ellipse">
            <a:avLst/>
          </a:prstGeom>
          <a:solidFill>
            <a:srgbClr val="0078B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6F948E2-2FAB-4C46-8466-3F46B5A4C39F}"/>
              </a:ext>
            </a:extLst>
          </p:cNvPr>
          <p:cNvSpPr>
            <a:spLocks noGrp="1"/>
          </p:cNvSpPr>
          <p:nvPr/>
        </p:nvSpPr>
        <p:spPr>
          <a:xfrm>
            <a:off x="7667625" y="2609850"/>
            <a:ext cx="5143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E8821EC-F5FC-4658-94D5-A99817BAAA74}"/>
              </a:ext>
            </a:extLst>
          </p:cNvPr>
          <p:cNvSpPr>
            <a:spLocks noGrp="1"/>
          </p:cNvSpPr>
          <p:nvPr/>
        </p:nvSpPr>
        <p:spPr>
          <a:xfrm>
            <a:off x="8315325" y="2562225"/>
            <a:ext cx="2590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2593"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桥接网络与固定 IP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8117CF9-0B0B-4869-9651-181BB35BC2C3}"/>
              </a:ext>
            </a:extLst>
          </p:cNvPr>
          <p:cNvSpPr>
            <a:spLocks noGrp="1"/>
          </p:cNvSpPr>
          <p:nvPr/>
        </p:nvSpPr>
        <p:spPr>
          <a:xfrm>
            <a:off x="8315325" y="2867025"/>
            <a:ext cx="2590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Bridged network and static IPs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566B0BE8-191B-43BF-B4EB-B791CB250BC0}"/>
              </a:ext>
            </a:extLst>
          </p:cNvPr>
          <p:cNvSpPr>
            <a:spLocks noGrp="1"/>
          </p:cNvSpPr>
          <p:nvPr/>
        </p:nvSpPr>
        <p:spPr>
          <a:xfrm>
            <a:off x="11191875" y="2571750"/>
            <a:ext cx="514350" cy="514350"/>
          </a:xfrm>
          <a:prstGeom prst="ellipse">
            <a:avLst/>
          </a:prstGeom>
          <a:solidFill>
            <a:srgbClr val="B600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1F35296-473B-4923-B970-854AEF645583}"/>
              </a:ext>
            </a:extLst>
          </p:cNvPr>
          <p:cNvSpPr>
            <a:spLocks noGrp="1"/>
          </p:cNvSpPr>
          <p:nvPr/>
        </p:nvSpPr>
        <p:spPr>
          <a:xfrm>
            <a:off x="11191875" y="2609850"/>
            <a:ext cx="5143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F8A96BF-28B6-48A1-9EE3-322577873D3E}"/>
              </a:ext>
            </a:extLst>
          </p:cNvPr>
          <p:cNvSpPr>
            <a:spLocks noGrp="1"/>
          </p:cNvSpPr>
          <p:nvPr/>
        </p:nvSpPr>
        <p:spPr>
          <a:xfrm>
            <a:off x="11839575" y="2562225"/>
            <a:ext cx="2590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2593"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公共 Master 与同步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70B1ECF-AB49-4D10-887A-F85C4F6295EE}"/>
              </a:ext>
            </a:extLst>
          </p:cNvPr>
          <p:cNvSpPr>
            <a:spLocks noGrp="1"/>
          </p:cNvSpPr>
          <p:nvPr/>
        </p:nvSpPr>
        <p:spPr>
          <a:xfrm>
            <a:off x="11839575" y="2867025"/>
            <a:ext cx="2590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Shared master and clock sync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06929DE-1E70-41EB-8073-FA20B3D80020}"/>
              </a:ext>
            </a:extLst>
          </p:cNvPr>
          <p:cNvSpPr>
            <a:spLocks noGrp="1"/>
          </p:cNvSpPr>
          <p:nvPr/>
        </p:nvSpPr>
        <p:spPr>
          <a:xfrm>
            <a:off x="1238250" y="4629150"/>
            <a:ext cx="2667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8413"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检查项目</a:t>
            </a: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2C7244C0-5E1E-4CB3-8722-2F0C306E2975}"/>
              </a:ext>
            </a:extLst>
          </p:cNvPr>
          <p:cNvSpPr>
            <a:spLocks noGrp="1"/>
          </p:cNvSpPr>
          <p:nvPr/>
        </p:nvSpPr>
        <p:spPr>
          <a:xfrm>
            <a:off x="1238250" y="5172075"/>
            <a:ext cx="114300" cy="114300"/>
          </a:xfrm>
          <a:prstGeom prst="ellipse">
            <a:avLst/>
          </a:prstGeom>
          <a:solidFill>
            <a:srgbClr val="0078B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049FCE8-22AF-4378-938B-6EF2258E89CA}"/>
              </a:ext>
            </a:extLst>
          </p:cNvPr>
          <p:cNvSpPr>
            <a:spLocks noGrp="1"/>
          </p:cNvSpPr>
          <p:nvPr/>
        </p:nvSpPr>
        <p:spPr>
          <a:xfrm>
            <a:off x="1466850" y="5105400"/>
            <a:ext cx="53911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3214"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底盘、IMU、/odom、/scan 连续发布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0515A65-3514-44FC-87FB-511C44B5654B}"/>
              </a:ext>
            </a:extLst>
          </p:cNvPr>
          <p:cNvSpPr>
            <a:spLocks noGrp="1"/>
          </p:cNvSpPr>
          <p:nvPr/>
        </p:nvSpPr>
        <p:spPr>
          <a:xfrm>
            <a:off x="1466850" y="5400675"/>
            <a:ext cx="5391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Continuous chassis, IMU, odometry and LiDAR topics</a:t>
            </a: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F21D253B-FAD5-4E7E-BA2C-E25F7B73B8B6}"/>
              </a:ext>
            </a:extLst>
          </p:cNvPr>
          <p:cNvSpPr>
            <a:spLocks noGrp="1"/>
          </p:cNvSpPr>
          <p:nvPr/>
        </p:nvSpPr>
        <p:spPr>
          <a:xfrm>
            <a:off x="1238250" y="6000750"/>
            <a:ext cx="114300" cy="114300"/>
          </a:xfrm>
          <a:prstGeom prst="ellipse">
            <a:avLst/>
          </a:prstGeom>
          <a:solidFill>
            <a:srgbClr val="0078B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CE7F182-0640-4B69-B64A-2E15ED35E3E9}"/>
              </a:ext>
            </a:extLst>
          </p:cNvPr>
          <p:cNvSpPr>
            <a:spLocks noGrp="1"/>
          </p:cNvSpPr>
          <p:nvPr/>
        </p:nvSpPr>
        <p:spPr>
          <a:xfrm>
            <a:off x="1466850" y="5934075"/>
            <a:ext cx="53911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3214"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三台系统相互可达，时间偏差可记录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B3AA157-6C50-4FFB-94C7-F62A025FBE76}"/>
              </a:ext>
            </a:extLst>
          </p:cNvPr>
          <p:cNvSpPr>
            <a:spLocks noGrp="1"/>
          </p:cNvSpPr>
          <p:nvPr/>
        </p:nvSpPr>
        <p:spPr>
          <a:xfrm>
            <a:off x="1466850" y="6229350"/>
            <a:ext cx="5391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All machines communicate and clock offset is measured</a:t>
            </a: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6DF5D59E-A232-44F7-8EB3-C81BC5DF66DA}"/>
              </a:ext>
            </a:extLst>
          </p:cNvPr>
          <p:cNvSpPr>
            <a:spLocks noGrp="1"/>
          </p:cNvSpPr>
          <p:nvPr/>
        </p:nvSpPr>
        <p:spPr>
          <a:xfrm>
            <a:off x="7905750" y="5172075"/>
            <a:ext cx="114300" cy="114300"/>
          </a:xfrm>
          <a:prstGeom prst="ellipse">
            <a:avLst/>
          </a:prstGeom>
          <a:solidFill>
            <a:srgbClr val="B600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7BDB9F5-0DA9-4AFD-A590-B6EAB50C27AB}"/>
              </a:ext>
            </a:extLst>
          </p:cNvPr>
          <p:cNvSpPr>
            <a:spLocks noGrp="1"/>
          </p:cNvSpPr>
          <p:nvPr/>
        </p:nvSpPr>
        <p:spPr>
          <a:xfrm>
            <a:off x="8134350" y="5105400"/>
            <a:ext cx="52006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3214"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保存两份单车基线 rosbag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CBB47DB-82A3-4C8D-99AB-0777722C6995}"/>
              </a:ext>
            </a:extLst>
          </p:cNvPr>
          <p:cNvSpPr>
            <a:spLocks noGrp="1"/>
          </p:cNvSpPr>
          <p:nvPr/>
        </p:nvSpPr>
        <p:spPr>
          <a:xfrm>
            <a:off x="8134350" y="5400675"/>
            <a:ext cx="52006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Record one baseline rosbag for each robot</a:t>
            </a: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AFFA64E2-20F0-479F-A3F7-F0E05156C9CF}"/>
              </a:ext>
            </a:extLst>
          </p:cNvPr>
          <p:cNvSpPr>
            <a:spLocks noGrp="1"/>
          </p:cNvSpPr>
          <p:nvPr/>
        </p:nvSpPr>
        <p:spPr>
          <a:xfrm>
            <a:off x="7905750" y="6000750"/>
            <a:ext cx="114300" cy="114300"/>
          </a:xfrm>
          <a:prstGeom prst="ellipse">
            <a:avLst/>
          </a:prstGeom>
          <a:solidFill>
            <a:srgbClr val="B600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E7FCA41-3302-441A-8729-BBDD143B812C}"/>
              </a:ext>
            </a:extLst>
          </p:cNvPr>
          <p:cNvSpPr>
            <a:spLocks noGrp="1"/>
          </p:cNvSpPr>
          <p:nvPr/>
        </p:nvSpPr>
        <p:spPr>
          <a:xfrm>
            <a:off x="8134350" y="5934075"/>
            <a:ext cx="52006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3214"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记录 IP、串口、频率和 frame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7F0FC9C-96E4-4A34-938B-93BBF155606A}"/>
              </a:ext>
            </a:extLst>
          </p:cNvPr>
          <p:cNvSpPr>
            <a:spLocks noGrp="1"/>
          </p:cNvSpPr>
          <p:nvPr/>
        </p:nvSpPr>
        <p:spPr>
          <a:xfrm>
            <a:off x="8134350" y="6229350"/>
            <a:ext cx="52006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Document IPs, ports, rates and frame IDs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7D6D719D-6B0E-4E28-B439-B110D6B4271C}"/>
              </a:ext>
            </a:extLst>
          </p:cNvPr>
          <p:cNvSpPr>
            <a:spLocks noGrp="1"/>
          </p:cNvSpPr>
          <p:nvPr/>
        </p:nvSpPr>
        <p:spPr>
          <a:xfrm>
            <a:off x="742950" y="7124700"/>
            <a:ext cx="13716000" cy="628650"/>
          </a:xfrm>
          <a:prstGeom prst="roundRect">
            <a:avLst>
              <a:gd name="adj" fmla="val 21212"/>
            </a:avLst>
          </a:prstGeom>
          <a:solidFill>
            <a:srgbClr val="123F6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798D466-F84F-4EA7-838F-AB7C94F372A2}"/>
              </a:ext>
            </a:extLst>
          </p:cNvPr>
          <p:cNvSpPr>
            <a:spLocks noGrp="1"/>
          </p:cNvSpPr>
          <p:nvPr/>
        </p:nvSpPr>
        <p:spPr>
          <a:xfrm>
            <a:off x="971550" y="7200900"/>
            <a:ext cx="7334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7217" lnSpcReduction="10000"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验收：两辆车均可单独稳定运行 10 分钟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98566A7-DCF0-4E8B-813B-28E21FC630E5}"/>
              </a:ext>
            </a:extLst>
          </p:cNvPr>
          <p:cNvSpPr>
            <a:spLocks noGrp="1"/>
          </p:cNvSpPr>
          <p:nvPr/>
        </p:nvSpPr>
        <p:spPr>
          <a:xfrm>
            <a:off x="8477250" y="7219950"/>
            <a:ext cx="571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Exit criterion: each robot runs alone for 10 minutes</a:t>
            </a:r>
          </a:p>
        </p:txBody>
      </p:sp>
    </p:spTree>
    <p:extLst>
      <p:ext uri="{BB962C8B-B14F-4D97-AF65-F5344CB8AC3E}">
        <p14:creationId xmlns:p14="http://schemas.microsoft.com/office/powerpoint/2010/main" val="2077304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9D858D41-F8B6-4329-996A-3B77CFA9D65A}"/>
              </a:ext>
            </a:extLst>
          </p:cNvPr>
          <p:cNvSpPr>
            <a:spLocks noGrp="1"/>
          </p:cNvSpPr>
          <p:nvPr/>
        </p:nvSpPr>
        <p:spPr>
          <a:xfrm>
            <a:off x="13639800" y="8039100"/>
            <a:ext cx="1600200" cy="533400"/>
          </a:xfrm>
          <a:prstGeom prst="rect">
            <a:avLst/>
          </a:prstGeom>
          <a:solidFill>
            <a:srgbClr val="B600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B01EACD-F24B-435B-AD11-AF256C42F729}"/>
              </a:ext>
            </a:extLst>
          </p:cNvPr>
          <p:cNvSpPr>
            <a:spLocks noGrp="1"/>
          </p:cNvSpPr>
          <p:nvPr/>
        </p:nvSpPr>
        <p:spPr>
          <a:xfrm>
            <a:off x="13811250" y="8124825"/>
            <a:ext cx="1285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3795"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Page   5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DB0CAE0-CB03-4589-A05A-2DD2BC56D00C}"/>
              </a:ext>
            </a:extLst>
          </p:cNvPr>
          <p:cNvSpPr>
            <a:spLocks noGrp="1"/>
          </p:cNvSpPr>
          <p:nvPr/>
        </p:nvSpPr>
        <p:spPr>
          <a:xfrm>
            <a:off x="628650" y="1000125"/>
            <a:ext cx="85725" cy="695325"/>
          </a:xfrm>
          <a:prstGeom prst="rect">
            <a:avLst/>
          </a:prstGeom>
          <a:solidFill>
            <a:srgbClr val="B600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5361170-8212-4CAD-87BC-AFD289454C85}"/>
              </a:ext>
            </a:extLst>
          </p:cNvPr>
          <p:cNvSpPr>
            <a:spLocks noGrp="1"/>
          </p:cNvSpPr>
          <p:nvPr/>
        </p:nvSpPr>
        <p:spPr>
          <a:xfrm>
            <a:off x="857250" y="885825"/>
            <a:ext cx="68580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4482"/>
          </a:bodyPr>
          <a:lstStyle/>
          <a:p>
            <a:pPr algn="l">
              <a:lnSpc>
                <a:spcPct val="105000"/>
              </a:lnSpc>
              <a:buNone/>
              <a:defRPr sz="31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dirty="0" err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第二</a:t>
            </a:r>
            <a:r>
              <a:rPr lang="zh-CN" altLang="en-US" sz="3150" b="1" dirty="0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步</a:t>
            </a:r>
            <a:r>
              <a:rPr sz="3150" b="1" dirty="0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sz="3150" b="1" dirty="0" err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命名空间、TF</a:t>
            </a:r>
            <a:r>
              <a:rPr sz="3150" b="1" dirty="0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150" b="1" dirty="0" err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与独立定位</a:t>
            </a:r>
            <a:endParaRPr sz="3150" b="1" dirty="0">
              <a:solidFill>
                <a:srgbClr val="123F6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BE1EB71-195B-4735-B7A7-364D73DF7ADD}"/>
              </a:ext>
            </a:extLst>
          </p:cNvPr>
          <p:cNvSpPr>
            <a:spLocks noGrp="1"/>
          </p:cNvSpPr>
          <p:nvPr/>
        </p:nvSpPr>
        <p:spPr>
          <a:xfrm>
            <a:off x="876300" y="1381125"/>
            <a:ext cx="78105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rPr>
              <a:t>2: Namespaces, TF and Independent Localization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AEE738C-51AA-453C-8AD4-75024DCD6221}"/>
              </a:ext>
            </a:extLst>
          </p:cNvPr>
          <p:cNvSpPr>
            <a:spLocks noGrp="1"/>
          </p:cNvSpPr>
          <p:nvPr/>
        </p:nvSpPr>
        <p:spPr>
          <a:xfrm>
            <a:off x="904875" y="2095500"/>
            <a:ext cx="6191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9941"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话题隔离 / TOPIC ISOLATION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C596CC6E-27E0-4C55-B876-AE5E6F36CF5D}"/>
              </a:ext>
            </a:extLst>
          </p:cNvPr>
          <p:cNvSpPr>
            <a:spLocks noGrp="1"/>
          </p:cNvSpPr>
          <p:nvPr/>
        </p:nvSpPr>
        <p:spPr>
          <a:xfrm>
            <a:off x="904875" y="2590800"/>
            <a:ext cx="6191250" cy="3257550"/>
          </a:xfrm>
          <a:prstGeom prst="roundRect">
            <a:avLst>
              <a:gd name="adj" fmla="val 4678"/>
            </a:avLst>
          </a:prstGeom>
          <a:solidFill>
            <a:srgbClr val="F8FBFD"/>
          </a:solidFill>
          <a:ln w="9525">
            <a:solidFill>
              <a:srgbClr val="BDD3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35A0394-5261-4B79-AB6B-3FB1FDA70F6B}"/>
              </a:ext>
            </a:extLst>
          </p:cNvPr>
          <p:cNvSpPr>
            <a:spLocks noGrp="1"/>
          </p:cNvSpPr>
          <p:nvPr/>
        </p:nvSpPr>
        <p:spPr>
          <a:xfrm>
            <a:off x="1285875" y="2924175"/>
            <a:ext cx="2333625" cy="23812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25000"/>
              </a:lnSpc>
              <a:buNone/>
              <a:defRPr sz="1875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rPr>
              <a:t>/car1/cmd_vel</a:t>
            </a:r>
          </a:p>
          <a:p>
            <a:pPr algn="l">
              <a:lnSpc>
                <a:spcPct val="125000"/>
              </a:lnSpc>
              <a:buNone/>
              <a:defRPr sz="1875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rPr>
              <a:t>/car1/odom</a:t>
            </a:r>
          </a:p>
          <a:p>
            <a:pPr algn="l">
              <a:lnSpc>
                <a:spcPct val="125000"/>
              </a:lnSpc>
              <a:buNone/>
              <a:defRPr sz="1875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rPr>
              <a:t>/car1/imu</a:t>
            </a:r>
          </a:p>
          <a:p>
            <a:pPr algn="l">
              <a:lnSpc>
                <a:spcPct val="125000"/>
              </a:lnSpc>
              <a:buNone/>
              <a:defRPr sz="1875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rPr>
              <a:t>/car1/scan</a:t>
            </a:r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8E98F2DD-E9D5-467F-A746-355B007D2056}"/>
              </a:ext>
            </a:extLst>
          </p:cNvPr>
          <p:cNvSpPr>
            <a:spLocks noGrp="1"/>
          </p:cNvSpPr>
          <p:nvPr/>
        </p:nvSpPr>
        <p:spPr>
          <a:xfrm>
            <a:off x="3952875" y="2857500"/>
            <a:ext cx="19050" cy="2571750"/>
          </a:xfrm>
          <a:prstGeom prst="line">
            <a:avLst/>
          </a:prstGeom>
          <a:noFill/>
          <a:ln w="19050">
            <a:solidFill>
              <a:srgbClr val="BDD3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2CC4A14-906A-493A-9012-711F1E0FEA5D}"/>
              </a:ext>
            </a:extLst>
          </p:cNvPr>
          <p:cNvSpPr>
            <a:spLocks noGrp="1"/>
          </p:cNvSpPr>
          <p:nvPr/>
        </p:nvSpPr>
        <p:spPr>
          <a:xfrm>
            <a:off x="4381500" y="2924175"/>
            <a:ext cx="2333625" cy="23812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25000"/>
              </a:lnSpc>
              <a:buNone/>
              <a:defRPr sz="1875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rPr>
              <a:t>/car2/cmd_vel</a:t>
            </a:r>
          </a:p>
          <a:p>
            <a:pPr algn="l">
              <a:lnSpc>
                <a:spcPct val="125000"/>
              </a:lnSpc>
              <a:buNone/>
              <a:defRPr sz="1875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rPr>
              <a:t>/car2/odom</a:t>
            </a:r>
          </a:p>
          <a:p>
            <a:pPr algn="l">
              <a:lnSpc>
                <a:spcPct val="125000"/>
              </a:lnSpc>
              <a:buNone/>
              <a:defRPr sz="1875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rPr>
              <a:t>/car2/imu</a:t>
            </a:r>
          </a:p>
          <a:p>
            <a:pPr algn="l">
              <a:lnSpc>
                <a:spcPct val="125000"/>
              </a:lnSpc>
              <a:buNone/>
              <a:defRPr sz="1875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rPr>
              <a:t>/car2/scan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8BB0B1A-66C8-44E1-8EDA-B5BE83CAA9D5}"/>
              </a:ext>
            </a:extLst>
          </p:cNvPr>
          <p:cNvSpPr>
            <a:spLocks noGrp="1"/>
          </p:cNvSpPr>
          <p:nvPr/>
        </p:nvSpPr>
        <p:spPr>
          <a:xfrm>
            <a:off x="7810500" y="2095500"/>
            <a:ext cx="6191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9941"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双 TF 树 / TWO TF TREES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5E875166-F751-4D23-837E-FE73084B8E2A}"/>
              </a:ext>
            </a:extLst>
          </p:cNvPr>
          <p:cNvSpPr>
            <a:spLocks noGrp="1"/>
          </p:cNvSpPr>
          <p:nvPr/>
        </p:nvSpPr>
        <p:spPr>
          <a:xfrm>
            <a:off x="7810500" y="2590800"/>
            <a:ext cx="6191250" cy="3257550"/>
          </a:xfrm>
          <a:prstGeom prst="roundRect">
            <a:avLst>
              <a:gd name="adj" fmla="val 4678"/>
            </a:avLst>
          </a:prstGeom>
          <a:solidFill>
            <a:srgbClr val="EFF6FA"/>
          </a:solidFill>
          <a:ln w="9525">
            <a:solidFill>
              <a:srgbClr val="49A8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7166DAC-2462-43CC-B32D-AF7055CDBA60}"/>
              </a:ext>
            </a:extLst>
          </p:cNvPr>
          <p:cNvSpPr>
            <a:spLocks noGrp="1"/>
          </p:cNvSpPr>
          <p:nvPr/>
        </p:nvSpPr>
        <p:spPr>
          <a:xfrm>
            <a:off x="10334625" y="2819400"/>
            <a:ext cx="1143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4628"/>
          </a:bodyPr>
          <a:lstStyle/>
          <a:p>
            <a:pPr algn="ctr">
              <a:lnSpc>
                <a:spcPct val="105000"/>
              </a:lnSpc>
              <a:buNone/>
              <a:defRPr sz="19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map</a:t>
            </a:r>
          </a:p>
        </p:txBody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01F35743-614E-4663-BA05-CBB970409E83}"/>
              </a:ext>
            </a:extLst>
          </p:cNvPr>
          <p:cNvSpPr>
            <a:spLocks noGrp="1"/>
          </p:cNvSpPr>
          <p:nvPr/>
        </p:nvSpPr>
        <p:spPr>
          <a:xfrm>
            <a:off x="10906125" y="3257550"/>
            <a:ext cx="19050" cy="276225"/>
          </a:xfrm>
          <a:prstGeom prst="line">
            <a:avLst/>
          </a:prstGeom>
          <a:noFill/>
          <a:ln w="28575">
            <a:solidFill>
              <a:srgbClr val="BDD3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12DD60FC-348E-49BA-B626-CC32D23AD068}"/>
              </a:ext>
            </a:extLst>
          </p:cNvPr>
          <p:cNvSpPr>
            <a:spLocks noGrp="1"/>
          </p:cNvSpPr>
          <p:nvPr/>
        </p:nvSpPr>
        <p:spPr>
          <a:xfrm>
            <a:off x="9525000" y="3524250"/>
            <a:ext cx="2857500" cy="19050"/>
          </a:xfrm>
          <a:prstGeom prst="line">
            <a:avLst/>
          </a:prstGeom>
          <a:noFill/>
          <a:ln w="28575">
            <a:solidFill>
              <a:srgbClr val="BDD3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EDDB4739-1962-457A-9040-E348EAF85571}"/>
              </a:ext>
            </a:extLst>
          </p:cNvPr>
          <p:cNvSpPr>
            <a:spLocks noGrp="1"/>
          </p:cNvSpPr>
          <p:nvPr/>
        </p:nvSpPr>
        <p:spPr>
          <a:xfrm>
            <a:off x="9525000" y="3524250"/>
            <a:ext cx="19050" cy="190500"/>
          </a:xfrm>
          <a:prstGeom prst="line">
            <a:avLst/>
          </a:prstGeom>
          <a:noFill/>
          <a:ln w="28575">
            <a:solidFill>
              <a:srgbClr val="0078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直接连接符 17">
            <a:extLst>
              <a:ext uri="{FF2B5EF4-FFF2-40B4-BE49-F238E27FC236}">
                <a16:creationId xmlns:a16="http://schemas.microsoft.com/office/drawing/2014/main" id="{E962DF01-BFEB-495C-901F-D24A92F48D44}"/>
              </a:ext>
            </a:extLst>
          </p:cNvPr>
          <p:cNvSpPr>
            <a:spLocks noGrp="1"/>
          </p:cNvSpPr>
          <p:nvPr/>
        </p:nvSpPr>
        <p:spPr>
          <a:xfrm>
            <a:off x="12382500" y="3524250"/>
            <a:ext cx="19050" cy="190500"/>
          </a:xfrm>
          <a:prstGeom prst="line">
            <a:avLst/>
          </a:prstGeom>
          <a:noFill/>
          <a:ln w="28575">
            <a:solidFill>
              <a:srgbClr val="B600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1DA3019-53F2-44F1-999D-EBFBF9883630}"/>
              </a:ext>
            </a:extLst>
          </p:cNvPr>
          <p:cNvSpPr>
            <a:spLocks noGrp="1"/>
          </p:cNvSpPr>
          <p:nvPr/>
        </p:nvSpPr>
        <p:spPr>
          <a:xfrm>
            <a:off x="8477250" y="3752850"/>
            <a:ext cx="1809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rPr>
              <a:t>car1/odom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B9C9DE7-EC1D-4875-95D1-A91A182AA497}"/>
              </a:ext>
            </a:extLst>
          </p:cNvPr>
          <p:cNvSpPr>
            <a:spLocks noGrp="1"/>
          </p:cNvSpPr>
          <p:nvPr/>
        </p:nvSpPr>
        <p:spPr>
          <a:xfrm>
            <a:off x="11525250" y="3752850"/>
            <a:ext cx="1809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rPr>
              <a:t>car2/odom</a:t>
            </a:r>
          </a:p>
        </p:txBody>
      </p:sp>
      <p:sp>
        <p:nvSpPr>
          <p:cNvPr id="21" name="直接连接符 20">
            <a:extLst>
              <a:ext uri="{FF2B5EF4-FFF2-40B4-BE49-F238E27FC236}">
                <a16:creationId xmlns:a16="http://schemas.microsoft.com/office/drawing/2014/main" id="{31BE4EBB-E79B-4FF6-AF62-F8BA209DBB3B}"/>
              </a:ext>
            </a:extLst>
          </p:cNvPr>
          <p:cNvSpPr>
            <a:spLocks noGrp="1"/>
          </p:cNvSpPr>
          <p:nvPr/>
        </p:nvSpPr>
        <p:spPr>
          <a:xfrm>
            <a:off x="9525000" y="4200525"/>
            <a:ext cx="19050" cy="428625"/>
          </a:xfrm>
          <a:prstGeom prst="line">
            <a:avLst/>
          </a:prstGeom>
          <a:noFill/>
          <a:ln w="28575">
            <a:solidFill>
              <a:srgbClr val="0078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直接连接符 21">
            <a:extLst>
              <a:ext uri="{FF2B5EF4-FFF2-40B4-BE49-F238E27FC236}">
                <a16:creationId xmlns:a16="http://schemas.microsoft.com/office/drawing/2014/main" id="{783EA199-B2C9-4B25-A0B2-692EAE112186}"/>
              </a:ext>
            </a:extLst>
          </p:cNvPr>
          <p:cNvSpPr>
            <a:spLocks noGrp="1"/>
          </p:cNvSpPr>
          <p:nvPr/>
        </p:nvSpPr>
        <p:spPr>
          <a:xfrm>
            <a:off x="12382500" y="4200525"/>
            <a:ext cx="19050" cy="428625"/>
          </a:xfrm>
          <a:prstGeom prst="line">
            <a:avLst/>
          </a:prstGeom>
          <a:noFill/>
          <a:ln w="28575">
            <a:solidFill>
              <a:srgbClr val="B600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2C625D3-201F-4ED8-B983-C29E6DEF642E}"/>
              </a:ext>
            </a:extLst>
          </p:cNvPr>
          <p:cNvSpPr>
            <a:spLocks noGrp="1"/>
          </p:cNvSpPr>
          <p:nvPr/>
        </p:nvSpPr>
        <p:spPr>
          <a:xfrm>
            <a:off x="8334375" y="4695825"/>
            <a:ext cx="2286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car1/base_link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2B4DBD8-7A0C-4CBF-AF5E-6368BB891894}"/>
              </a:ext>
            </a:extLst>
          </p:cNvPr>
          <p:cNvSpPr>
            <a:spLocks noGrp="1"/>
          </p:cNvSpPr>
          <p:nvPr/>
        </p:nvSpPr>
        <p:spPr>
          <a:xfrm>
            <a:off x="11239500" y="4695825"/>
            <a:ext cx="2286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car2/base_link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84E2B00-DCA3-4476-9306-CB6F0A69E0BE}"/>
              </a:ext>
            </a:extLst>
          </p:cNvPr>
          <p:cNvSpPr>
            <a:spLocks noGrp="1"/>
          </p:cNvSpPr>
          <p:nvPr/>
        </p:nvSpPr>
        <p:spPr>
          <a:xfrm>
            <a:off x="8782050" y="5257800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8261"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两套 AMCL 在同一地图中独立定位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3E87B10-EDDF-4839-A3CC-D25B464F818D}"/>
              </a:ext>
            </a:extLst>
          </p:cNvPr>
          <p:cNvSpPr>
            <a:spLocks noGrp="1"/>
          </p:cNvSpPr>
          <p:nvPr/>
        </p:nvSpPr>
        <p:spPr>
          <a:xfrm>
            <a:off x="8782050" y="5543550"/>
            <a:ext cx="4286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6161"/>
          </a:bodyPr>
          <a:lstStyle/>
          <a:p>
            <a:pPr algn="ctr">
              <a:lnSpc>
                <a:spcPct val="105000"/>
              </a:lnSpc>
              <a:buNone/>
              <a:defRPr sz="1238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Two AMCL instances localize independently</a:t>
            </a: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D4157A09-1350-4DF2-BF06-B49C7C8A2815}"/>
              </a:ext>
            </a:extLst>
          </p:cNvPr>
          <p:cNvSpPr>
            <a:spLocks noGrp="1"/>
          </p:cNvSpPr>
          <p:nvPr/>
        </p:nvSpPr>
        <p:spPr>
          <a:xfrm>
            <a:off x="1047750" y="6276975"/>
            <a:ext cx="114300" cy="114300"/>
          </a:xfrm>
          <a:prstGeom prst="ellipse">
            <a:avLst/>
          </a:prstGeom>
          <a:solidFill>
            <a:srgbClr val="0078B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E0F0CF9-947C-4B53-81C5-439EFAF532B1}"/>
              </a:ext>
            </a:extLst>
          </p:cNvPr>
          <p:cNvSpPr>
            <a:spLocks noGrp="1"/>
          </p:cNvSpPr>
          <p:nvPr/>
        </p:nvSpPr>
        <p:spPr>
          <a:xfrm>
            <a:off x="1276350" y="6210300"/>
            <a:ext cx="58197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3214"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分别发送速度指令，只允许目标车辆响应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10DC738-0F94-4CBD-AB02-FBA6C99E6F5D}"/>
              </a:ext>
            </a:extLst>
          </p:cNvPr>
          <p:cNvSpPr>
            <a:spLocks noGrp="1"/>
          </p:cNvSpPr>
          <p:nvPr/>
        </p:nvSpPr>
        <p:spPr>
          <a:xfrm>
            <a:off x="1276350" y="6505575"/>
            <a:ext cx="58197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Command isolation verified for both robots</a:t>
            </a: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992BB4DC-1F8A-4CF0-B0FD-E97128E98E76}"/>
              </a:ext>
            </a:extLst>
          </p:cNvPr>
          <p:cNvSpPr>
            <a:spLocks noGrp="1"/>
          </p:cNvSpPr>
          <p:nvPr/>
        </p:nvSpPr>
        <p:spPr>
          <a:xfrm>
            <a:off x="8001000" y="6276975"/>
            <a:ext cx="114300" cy="114300"/>
          </a:xfrm>
          <a:prstGeom prst="ellipse">
            <a:avLst/>
          </a:prstGeom>
          <a:solidFill>
            <a:srgbClr val="B600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84272BB-BA27-45EC-B886-913D59CD57E3}"/>
              </a:ext>
            </a:extLst>
          </p:cNvPr>
          <p:cNvSpPr>
            <a:spLocks noGrp="1"/>
          </p:cNvSpPr>
          <p:nvPr/>
        </p:nvSpPr>
        <p:spPr>
          <a:xfrm>
            <a:off x="8229600" y="6210300"/>
            <a:ext cx="53911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3214"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RViz 同时显示两车轨迹，TF 无冲突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063257F-13EE-4EB4-B390-30A162CF25FD}"/>
              </a:ext>
            </a:extLst>
          </p:cNvPr>
          <p:cNvSpPr>
            <a:spLocks noGrp="1"/>
          </p:cNvSpPr>
          <p:nvPr/>
        </p:nvSpPr>
        <p:spPr>
          <a:xfrm>
            <a:off x="8229600" y="6505575"/>
            <a:ext cx="5391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Both trajectories visible in RViz without TF conflicts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11AC4B6B-004E-46F2-9022-11A6D8B34E16}"/>
              </a:ext>
            </a:extLst>
          </p:cNvPr>
          <p:cNvSpPr>
            <a:spLocks noGrp="1"/>
          </p:cNvSpPr>
          <p:nvPr/>
        </p:nvSpPr>
        <p:spPr>
          <a:xfrm>
            <a:off x="742950" y="7124700"/>
            <a:ext cx="13716000" cy="628650"/>
          </a:xfrm>
          <a:prstGeom prst="roundRect">
            <a:avLst>
              <a:gd name="adj" fmla="val 21212"/>
            </a:avLst>
          </a:prstGeom>
          <a:solidFill>
            <a:srgbClr val="123F6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12A7E70-5C8E-4467-8E0A-DAE284C50721}"/>
              </a:ext>
            </a:extLst>
          </p:cNvPr>
          <p:cNvSpPr>
            <a:spLocks noGrp="1"/>
          </p:cNvSpPr>
          <p:nvPr/>
        </p:nvSpPr>
        <p:spPr>
          <a:xfrm>
            <a:off x="971550" y="7200900"/>
            <a:ext cx="7334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7217" lnSpcReduction="10000"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验收：双车同时运行，任一车辆重启不影响另一辆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4F19005-BE00-40FB-A5E4-ABA19E14C4F8}"/>
              </a:ext>
            </a:extLst>
          </p:cNvPr>
          <p:cNvSpPr>
            <a:spLocks noGrp="1"/>
          </p:cNvSpPr>
          <p:nvPr/>
        </p:nvSpPr>
        <p:spPr>
          <a:xfrm>
            <a:off x="8477250" y="7219950"/>
            <a:ext cx="571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Exit criterion: independent operation and restart</a:t>
            </a:r>
          </a:p>
        </p:txBody>
      </p:sp>
    </p:spTree>
    <p:extLst>
      <p:ext uri="{BB962C8B-B14F-4D97-AF65-F5344CB8AC3E}">
        <p14:creationId xmlns:p14="http://schemas.microsoft.com/office/powerpoint/2010/main" val="381092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76E60F39-0B31-4A45-A0A0-7E643B0701EF}"/>
              </a:ext>
            </a:extLst>
          </p:cNvPr>
          <p:cNvSpPr>
            <a:spLocks noGrp="1"/>
          </p:cNvSpPr>
          <p:nvPr/>
        </p:nvSpPr>
        <p:spPr>
          <a:xfrm>
            <a:off x="13639800" y="8039100"/>
            <a:ext cx="1600200" cy="533400"/>
          </a:xfrm>
          <a:prstGeom prst="rect">
            <a:avLst/>
          </a:prstGeom>
          <a:solidFill>
            <a:srgbClr val="B600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9BE090-B909-42D2-BE0F-0EDFDF28E5CA}"/>
              </a:ext>
            </a:extLst>
          </p:cNvPr>
          <p:cNvSpPr>
            <a:spLocks noGrp="1"/>
          </p:cNvSpPr>
          <p:nvPr/>
        </p:nvSpPr>
        <p:spPr>
          <a:xfrm>
            <a:off x="13811250" y="8124825"/>
            <a:ext cx="1285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3795"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Page   6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C112399-3208-4CE2-AF26-366BD15D0ED2}"/>
              </a:ext>
            </a:extLst>
          </p:cNvPr>
          <p:cNvSpPr>
            <a:spLocks noGrp="1"/>
          </p:cNvSpPr>
          <p:nvPr/>
        </p:nvSpPr>
        <p:spPr>
          <a:xfrm>
            <a:off x="628650" y="1000125"/>
            <a:ext cx="85725" cy="695325"/>
          </a:xfrm>
          <a:prstGeom prst="rect">
            <a:avLst/>
          </a:prstGeom>
          <a:solidFill>
            <a:srgbClr val="B600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A0216DF-900A-4BD2-8875-F28D3AFA1847}"/>
              </a:ext>
            </a:extLst>
          </p:cNvPr>
          <p:cNvSpPr>
            <a:spLocks noGrp="1"/>
          </p:cNvSpPr>
          <p:nvPr/>
        </p:nvSpPr>
        <p:spPr>
          <a:xfrm>
            <a:off x="857250" y="885825"/>
            <a:ext cx="68580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4482"/>
          </a:bodyPr>
          <a:lstStyle/>
          <a:p>
            <a:pPr algn="l">
              <a:lnSpc>
                <a:spcPct val="105000"/>
              </a:lnSpc>
              <a:buNone/>
              <a:defRPr sz="31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dirty="0" err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第三</a:t>
            </a:r>
            <a:r>
              <a:rPr lang="zh-CN" altLang="en-US" sz="3150" b="1" dirty="0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步</a:t>
            </a:r>
            <a:r>
              <a:rPr sz="3150" b="1" dirty="0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：UWB </a:t>
            </a:r>
            <a:r>
              <a:rPr sz="3150" b="1" dirty="0" err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接入与标定</a:t>
            </a:r>
            <a:endParaRPr sz="3150" b="1" dirty="0">
              <a:solidFill>
                <a:srgbClr val="123F6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AEAC25A-EBAA-4B01-82F7-95C7898DAFDC}"/>
              </a:ext>
            </a:extLst>
          </p:cNvPr>
          <p:cNvSpPr>
            <a:spLocks noGrp="1"/>
          </p:cNvSpPr>
          <p:nvPr/>
        </p:nvSpPr>
        <p:spPr>
          <a:xfrm>
            <a:off x="876300" y="1381125"/>
            <a:ext cx="78105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rPr>
              <a:t>Week 3: UWB Integration and Calibration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A71FA7A4-7C31-45FC-9629-5118B6771B96}"/>
              </a:ext>
            </a:extLst>
          </p:cNvPr>
          <p:cNvSpPr>
            <a:spLocks noGrp="1"/>
          </p:cNvSpPr>
          <p:nvPr/>
        </p:nvSpPr>
        <p:spPr>
          <a:xfrm>
            <a:off x="838200" y="2114550"/>
            <a:ext cx="4286250" cy="4238625"/>
          </a:xfrm>
          <a:prstGeom prst="roundRect">
            <a:avLst>
              <a:gd name="adj" fmla="val 3596"/>
            </a:avLst>
          </a:prstGeom>
          <a:solidFill>
            <a:srgbClr val="F8FBFD"/>
          </a:solidFill>
          <a:ln w="9525">
            <a:solidFill>
              <a:srgbClr val="BDD3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F7DC295-7CDB-42CB-B3F2-2675ABE5DCC5}"/>
              </a:ext>
            </a:extLst>
          </p:cNvPr>
          <p:cNvSpPr>
            <a:spLocks noGrp="1"/>
          </p:cNvSpPr>
          <p:nvPr/>
        </p:nvSpPr>
        <p:spPr>
          <a:xfrm>
            <a:off x="1143000" y="2324100"/>
            <a:ext cx="2381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3049"/>
          </a:bodyPr>
          <a:lstStyle/>
          <a:p>
            <a:pPr algn="l">
              <a:lnSpc>
                <a:spcPct val="105000"/>
              </a:lnSpc>
              <a:buNone/>
              <a:defRPr sz="217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接口准备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D8C53B12-9E1C-4FC1-9DB9-F0B25D7E4CA5}"/>
              </a:ext>
            </a:extLst>
          </p:cNvPr>
          <p:cNvSpPr>
            <a:spLocks noGrp="1"/>
          </p:cNvSpPr>
          <p:nvPr/>
        </p:nvSpPr>
        <p:spPr>
          <a:xfrm>
            <a:off x="1143000" y="3057525"/>
            <a:ext cx="114300" cy="114300"/>
          </a:xfrm>
          <a:prstGeom prst="ellipse">
            <a:avLst/>
          </a:prstGeom>
          <a:solidFill>
            <a:srgbClr val="0078B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92FB3C3-EE70-4E94-920E-790B5B4FD6F0}"/>
              </a:ext>
            </a:extLst>
          </p:cNvPr>
          <p:cNvSpPr>
            <a:spLocks noGrp="1"/>
          </p:cNvSpPr>
          <p:nvPr/>
        </p:nvSpPr>
        <p:spPr>
          <a:xfrm>
            <a:off x="1371600" y="2990850"/>
            <a:ext cx="33909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3214"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唯一节点 ID 和固定串口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9BFBD27-DEA2-4740-87D8-253D9C3670B8}"/>
              </a:ext>
            </a:extLst>
          </p:cNvPr>
          <p:cNvSpPr>
            <a:spLocks noGrp="1"/>
          </p:cNvSpPr>
          <p:nvPr/>
        </p:nvSpPr>
        <p:spPr>
          <a:xfrm>
            <a:off x="1371600" y="3286125"/>
            <a:ext cx="3390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9119"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Unique node IDs and stable device ports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3D33534-D563-4FB1-9C92-C630194DDCCA}"/>
              </a:ext>
            </a:extLst>
          </p:cNvPr>
          <p:cNvSpPr>
            <a:spLocks noGrp="1"/>
          </p:cNvSpPr>
          <p:nvPr/>
        </p:nvSpPr>
        <p:spPr>
          <a:xfrm>
            <a:off x="1143000" y="3924300"/>
            <a:ext cx="114300" cy="114300"/>
          </a:xfrm>
          <a:prstGeom prst="ellipse">
            <a:avLst/>
          </a:prstGeom>
          <a:solidFill>
            <a:srgbClr val="0078B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4B86673-C82D-4872-9F3D-985A64DEC906}"/>
              </a:ext>
            </a:extLst>
          </p:cNvPr>
          <p:cNvSpPr>
            <a:spLocks noGrp="1"/>
          </p:cNvSpPr>
          <p:nvPr/>
        </p:nvSpPr>
        <p:spPr>
          <a:xfrm>
            <a:off x="1371600" y="3857625"/>
            <a:ext cx="33909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3214"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带时间戳的距离消息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E2B111E-E0A7-4B4C-9C35-C3494A7E597D}"/>
              </a:ext>
            </a:extLst>
          </p:cNvPr>
          <p:cNvSpPr>
            <a:spLocks noGrp="1"/>
          </p:cNvSpPr>
          <p:nvPr/>
        </p:nvSpPr>
        <p:spPr>
          <a:xfrm>
            <a:off x="1371600" y="4152900"/>
            <a:ext cx="3390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Timestamped range messages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E9701BCD-2919-4BB3-A3D9-95120671158A}"/>
              </a:ext>
            </a:extLst>
          </p:cNvPr>
          <p:cNvSpPr>
            <a:spLocks noGrp="1"/>
          </p:cNvSpPr>
          <p:nvPr/>
        </p:nvSpPr>
        <p:spPr>
          <a:xfrm>
            <a:off x="1143000" y="4791075"/>
            <a:ext cx="114300" cy="114300"/>
          </a:xfrm>
          <a:prstGeom prst="ellipse">
            <a:avLst/>
          </a:prstGeom>
          <a:solidFill>
            <a:srgbClr val="0078B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0EB15E2-A5E4-4E17-AE12-2403180AFEF0}"/>
              </a:ext>
            </a:extLst>
          </p:cNvPr>
          <p:cNvSpPr>
            <a:spLocks noGrp="1"/>
          </p:cNvSpPr>
          <p:nvPr/>
        </p:nvSpPr>
        <p:spPr>
          <a:xfrm>
            <a:off x="1371600" y="4724400"/>
            <a:ext cx="33909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3214"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base_link 到 uwb_link 外参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BD63695-1A55-4150-8731-4D425117B7BC}"/>
              </a:ext>
            </a:extLst>
          </p:cNvPr>
          <p:cNvSpPr>
            <a:spLocks noGrp="1"/>
          </p:cNvSpPr>
          <p:nvPr/>
        </p:nvSpPr>
        <p:spPr>
          <a:xfrm>
            <a:off x="1371600" y="5019675"/>
            <a:ext cx="3390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80864" lnSpcReduction="10000"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Extrinsic transform from base_link to uwb_link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C737F19A-B395-4D0C-9B75-D868C3ED7032}"/>
              </a:ext>
            </a:extLst>
          </p:cNvPr>
          <p:cNvSpPr>
            <a:spLocks noGrp="1"/>
          </p:cNvSpPr>
          <p:nvPr/>
        </p:nvSpPr>
        <p:spPr>
          <a:xfrm>
            <a:off x="1143000" y="5657850"/>
            <a:ext cx="114300" cy="114300"/>
          </a:xfrm>
          <a:prstGeom prst="ellipse">
            <a:avLst/>
          </a:prstGeom>
          <a:solidFill>
            <a:srgbClr val="0078B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729300E-F1AB-404F-8304-0A93E9E02ECC}"/>
              </a:ext>
            </a:extLst>
          </p:cNvPr>
          <p:cNvSpPr>
            <a:spLocks noGrp="1"/>
          </p:cNvSpPr>
          <p:nvPr/>
        </p:nvSpPr>
        <p:spPr>
          <a:xfrm>
            <a:off x="1371600" y="5591175"/>
            <a:ext cx="33909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3214"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频率、延迟和丢包统计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BC0640E-1D70-4A9F-AFD0-56EEE85E28B6}"/>
              </a:ext>
            </a:extLst>
          </p:cNvPr>
          <p:cNvSpPr>
            <a:spLocks noGrp="1"/>
          </p:cNvSpPr>
          <p:nvPr/>
        </p:nvSpPr>
        <p:spPr>
          <a:xfrm>
            <a:off x="1371600" y="5886450"/>
            <a:ext cx="3390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Rate, latency and packet-loss statistics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6C1FE25-72B5-465C-8D10-DB1CB7591AFB}"/>
              </a:ext>
            </a:extLst>
          </p:cNvPr>
          <p:cNvSpPr>
            <a:spLocks noGrp="1"/>
          </p:cNvSpPr>
          <p:nvPr/>
        </p:nvSpPr>
        <p:spPr>
          <a:xfrm>
            <a:off x="5810250" y="2114550"/>
            <a:ext cx="2381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3049"/>
          </a:bodyPr>
          <a:lstStyle/>
          <a:p>
            <a:pPr algn="l">
              <a:lnSpc>
                <a:spcPct val="105000"/>
              </a:lnSpc>
              <a:buNone/>
              <a:defRPr sz="217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标定矩阵</a:t>
            </a:r>
          </a:p>
        </p:txBody>
      </p:sp>
      <p:graphicFrame>
        <p:nvGraphicFramePr>
          <p:cNvPr id="50" name="表格 49"/>
          <p:cNvGraphicFramePr/>
          <p:nvPr/>
        </p:nvGraphicFramePr>
        <p:xfrm>
          <a:off x="5810250" y="2724150"/>
          <a:ext cx="8096250" cy="3143250"/>
        </p:xfrm>
        <a:graphic>
          <a:graphicData uri="http://schemas.openxmlformats.org/drawingml/2006/table">
            <a:tbl>
              <a:tblPr/>
              <a:tblGrid>
                <a:gridCol w="22489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9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9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89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条件</a:t>
                      </a:r>
                    </a:p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Condition</a:t>
                      </a:r>
                    </a:p>
                  </a:txBody>
                  <a:tcPr marL="76200" marR="76200" marT="47625" marB="47625" anchor="ctr">
                    <a:solidFill>
                      <a:srgbClr val="123F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静止</a:t>
                      </a:r>
                    </a:p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Static</a:t>
                      </a:r>
                    </a:p>
                  </a:txBody>
                  <a:tcPr marL="76200" marR="76200" marT="47625" marB="47625" anchor="ctr">
                    <a:solidFill>
                      <a:srgbClr val="123F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运动</a:t>
                      </a:r>
                    </a:p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Moving</a:t>
                      </a:r>
                    </a:p>
                  </a:txBody>
                  <a:tcPr marL="76200" marR="76200" marT="47625" marB="47625" anchor="ctr">
                    <a:solidFill>
                      <a:srgbClr val="123F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</a:t>
                      </a:r>
                    </a:p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Output</a:t>
                      </a:r>
                    </a:p>
                  </a:txBody>
                  <a:tcPr marL="76200" marR="76200" marT="47625" marB="47625" anchor="ctr">
                    <a:solidFill>
                      <a:srgbClr val="123F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无遮挡 / LOS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✓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✓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偏差与标准差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人体遮挡</a:t>
                      </a:r>
                    </a:p>
                  </a:txBody>
                  <a:tcPr marL="76200" marR="76200" marT="38100" marB="38100" anchor="ctr"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✓</a:t>
                      </a:r>
                    </a:p>
                  </a:txBody>
                  <a:tcPr marL="76200" marR="76200" marT="38100" marB="38100" anchor="ctr"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✓</a:t>
                      </a:r>
                    </a:p>
                  </a:txBody>
                  <a:tcPr marL="76200" marR="76200" marT="38100" marB="38100" anchor="ctr"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异常值比例</a:t>
                      </a:r>
                    </a:p>
                  </a:txBody>
                  <a:tcPr marL="76200" marR="76200" marT="38100" marB="38100" anchor="ctr">
                    <a:solidFill>
                      <a:srgbClr val="EF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车体遮挡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✓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✓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丢包与延迟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多距离</a:t>
                      </a:r>
                    </a:p>
                  </a:txBody>
                  <a:tcPr marL="76200" marR="76200" marT="38100" marB="38100" anchor="ctr"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已知真值</a:t>
                      </a:r>
                    </a:p>
                  </a:txBody>
                  <a:tcPr marL="76200" marR="76200" marT="38100" marB="38100" anchor="ctr"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低速</a:t>
                      </a:r>
                    </a:p>
                  </a:txBody>
                  <a:tcPr marL="76200" marR="76200" marT="38100" marB="38100" anchor="ctr"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误差模型</a:t>
                      </a:r>
                    </a:p>
                  </a:txBody>
                  <a:tcPr marL="76200" marR="76200" marT="38100" marB="38100" anchor="ctr">
                    <a:solidFill>
                      <a:srgbClr val="EF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6FC65761-0372-4D8F-914C-5142B2CF142D}"/>
              </a:ext>
            </a:extLst>
          </p:cNvPr>
          <p:cNvSpPr>
            <a:spLocks noGrp="1"/>
          </p:cNvSpPr>
          <p:nvPr/>
        </p:nvSpPr>
        <p:spPr>
          <a:xfrm>
            <a:off x="5810250" y="6096000"/>
            <a:ext cx="8096250" cy="685800"/>
          </a:xfrm>
          <a:prstGeom prst="roundRect">
            <a:avLst>
              <a:gd name="adj" fmla="val 16667"/>
            </a:avLst>
          </a:prstGeom>
          <a:solidFill>
            <a:srgbClr val="FFF5E6"/>
          </a:solidFill>
          <a:ln w="11430">
            <a:solidFill>
              <a:srgbClr val="E9B65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0E028E1-CBB3-46B1-BC6E-4A9AD40D407A}"/>
              </a:ext>
            </a:extLst>
          </p:cNvPr>
          <p:cNvSpPr>
            <a:spLocks noGrp="1"/>
          </p:cNvSpPr>
          <p:nvPr/>
        </p:nvSpPr>
        <p:spPr>
          <a:xfrm>
            <a:off x="6076950" y="6191250"/>
            <a:ext cx="7524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3795"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8658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86580E"/>
                </a:solidFill>
                <a:latin typeface="Microsoft YaHei"/>
                <a:ea typeface="Microsoft YaHei"/>
                <a:cs typeface="Microsoft YaHei"/>
              </a:rPr>
              <a:t>一条车间距离只能提供一个标量约束，不能单独确定两车的二维位置与航向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B32BAC4-60BB-48AC-9AB1-0B274BA8C869}"/>
              </a:ext>
            </a:extLst>
          </p:cNvPr>
          <p:cNvSpPr>
            <a:spLocks noGrp="1"/>
          </p:cNvSpPr>
          <p:nvPr/>
        </p:nvSpPr>
        <p:spPr>
          <a:xfrm>
            <a:off x="6076950" y="6486525"/>
            <a:ext cx="75247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8853"/>
          </a:bodyPr>
          <a:lstStyle/>
          <a:p>
            <a:pPr algn="ctr">
              <a:lnSpc>
                <a:spcPct val="105000"/>
              </a:lnSpc>
              <a:buNone/>
              <a:defRPr sz="1238" b="0">
                <a:solidFill>
                  <a:srgbClr val="8658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86580E"/>
                </a:solidFill>
                <a:latin typeface="Microsoft YaHei"/>
                <a:ea typeface="Microsoft YaHei"/>
                <a:cs typeface="Microsoft YaHei"/>
              </a:rPr>
              <a:t>A single inter-robot range cannot determine both 2D poses and headings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29C7F25C-07DD-483D-8E7D-B4DA58A56C36}"/>
              </a:ext>
            </a:extLst>
          </p:cNvPr>
          <p:cNvSpPr>
            <a:spLocks noGrp="1"/>
          </p:cNvSpPr>
          <p:nvPr/>
        </p:nvSpPr>
        <p:spPr>
          <a:xfrm>
            <a:off x="742950" y="7124700"/>
            <a:ext cx="13716000" cy="628650"/>
          </a:xfrm>
          <a:prstGeom prst="roundRect">
            <a:avLst>
              <a:gd name="adj" fmla="val 21212"/>
            </a:avLst>
          </a:prstGeom>
          <a:solidFill>
            <a:srgbClr val="123F6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713B4C6-A84F-4904-96CA-199C774F8DD7}"/>
              </a:ext>
            </a:extLst>
          </p:cNvPr>
          <p:cNvSpPr>
            <a:spLocks noGrp="1"/>
          </p:cNvSpPr>
          <p:nvPr/>
        </p:nvSpPr>
        <p:spPr>
          <a:xfrm>
            <a:off x="971550" y="7200900"/>
            <a:ext cx="7334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7217" lnSpcReduction="10000"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验收：形成 UWB 误差统计和稳定 ROS 话题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3149DDF-C3B1-425C-82D2-E91837AE1673}"/>
              </a:ext>
            </a:extLst>
          </p:cNvPr>
          <p:cNvSpPr>
            <a:spLocks noGrp="1"/>
          </p:cNvSpPr>
          <p:nvPr/>
        </p:nvSpPr>
        <p:spPr>
          <a:xfrm>
            <a:off x="8477250" y="7219950"/>
            <a:ext cx="571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Exit criterion: calibrated ranging and stable ROS data</a:t>
            </a:r>
          </a:p>
        </p:txBody>
      </p:sp>
    </p:spTree>
    <p:extLst>
      <p:ext uri="{BB962C8B-B14F-4D97-AF65-F5344CB8AC3E}">
        <p14:creationId xmlns:p14="http://schemas.microsoft.com/office/powerpoint/2010/main" val="1742197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1ACB6F82-30D1-4010-A768-39D6183F3A48}"/>
              </a:ext>
            </a:extLst>
          </p:cNvPr>
          <p:cNvSpPr>
            <a:spLocks noGrp="1"/>
          </p:cNvSpPr>
          <p:nvPr/>
        </p:nvSpPr>
        <p:spPr>
          <a:xfrm>
            <a:off x="13639800" y="8039100"/>
            <a:ext cx="1600200" cy="533400"/>
          </a:xfrm>
          <a:prstGeom prst="rect">
            <a:avLst/>
          </a:prstGeom>
          <a:solidFill>
            <a:srgbClr val="B600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700320B-5E08-4647-935E-6A4A302647B7}"/>
              </a:ext>
            </a:extLst>
          </p:cNvPr>
          <p:cNvSpPr>
            <a:spLocks noGrp="1"/>
          </p:cNvSpPr>
          <p:nvPr/>
        </p:nvSpPr>
        <p:spPr>
          <a:xfrm>
            <a:off x="13811250" y="8124825"/>
            <a:ext cx="1285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3795"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Page   7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7EDBD0F-5397-47E6-8507-AFAA5CAC1F7E}"/>
              </a:ext>
            </a:extLst>
          </p:cNvPr>
          <p:cNvSpPr>
            <a:spLocks noGrp="1"/>
          </p:cNvSpPr>
          <p:nvPr/>
        </p:nvSpPr>
        <p:spPr>
          <a:xfrm>
            <a:off x="628650" y="1000125"/>
            <a:ext cx="85725" cy="695325"/>
          </a:xfrm>
          <a:prstGeom prst="rect">
            <a:avLst/>
          </a:prstGeom>
          <a:solidFill>
            <a:srgbClr val="B600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457B6B0-9AFC-407B-B079-899D0A5A7DF1}"/>
              </a:ext>
            </a:extLst>
          </p:cNvPr>
          <p:cNvSpPr>
            <a:spLocks noGrp="1"/>
          </p:cNvSpPr>
          <p:nvPr/>
        </p:nvSpPr>
        <p:spPr>
          <a:xfrm>
            <a:off x="857250" y="885825"/>
            <a:ext cx="68580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4482"/>
          </a:bodyPr>
          <a:lstStyle/>
          <a:p>
            <a:pPr algn="l">
              <a:lnSpc>
                <a:spcPct val="105000"/>
              </a:lnSpc>
              <a:buNone/>
              <a:defRPr sz="31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第四周：协同融合与在线演示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44737F0-8799-4643-AEB3-24608E322539}"/>
              </a:ext>
            </a:extLst>
          </p:cNvPr>
          <p:cNvSpPr>
            <a:spLocks noGrp="1"/>
          </p:cNvSpPr>
          <p:nvPr/>
        </p:nvSpPr>
        <p:spPr>
          <a:xfrm>
            <a:off x="876300" y="1381125"/>
            <a:ext cx="78105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rPr>
              <a:t>Week 4: Cooperative Fusion and Online Demonstration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C829237-7328-4E33-A69C-242C0FC16213}"/>
              </a:ext>
            </a:extLst>
          </p:cNvPr>
          <p:cNvSpPr>
            <a:spLocks noGrp="1"/>
          </p:cNvSpPr>
          <p:nvPr/>
        </p:nvSpPr>
        <p:spPr>
          <a:xfrm>
            <a:off x="857250" y="2495550"/>
            <a:ext cx="2857500" cy="1428750"/>
          </a:xfrm>
          <a:prstGeom prst="roundRect">
            <a:avLst>
              <a:gd name="adj" fmla="val 10667"/>
            </a:avLst>
          </a:prstGeom>
          <a:solidFill>
            <a:srgbClr val="F8FBFD"/>
          </a:solidFill>
          <a:ln w="11430">
            <a:solidFill>
              <a:srgbClr val="BDD3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E20B637-0E2E-41EC-AE0A-CEB96E2A4E6B}"/>
              </a:ext>
            </a:extLst>
          </p:cNvPr>
          <p:cNvSpPr>
            <a:spLocks noGrp="1"/>
          </p:cNvSpPr>
          <p:nvPr/>
        </p:nvSpPr>
        <p:spPr>
          <a:xfrm>
            <a:off x="4429125" y="2495550"/>
            <a:ext cx="2857500" cy="1428750"/>
          </a:xfrm>
          <a:prstGeom prst="roundRect">
            <a:avLst>
              <a:gd name="adj" fmla="val 10667"/>
            </a:avLst>
          </a:prstGeom>
          <a:solidFill>
            <a:srgbClr val="EFF6FA"/>
          </a:solidFill>
          <a:ln w="11430">
            <a:solidFill>
              <a:srgbClr val="0078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E88830B-0C2C-40D6-9553-6A14AEEE9C7F}"/>
              </a:ext>
            </a:extLst>
          </p:cNvPr>
          <p:cNvSpPr>
            <a:spLocks noGrp="1"/>
          </p:cNvSpPr>
          <p:nvPr/>
        </p:nvSpPr>
        <p:spPr>
          <a:xfrm>
            <a:off x="8001000" y="2495550"/>
            <a:ext cx="2857500" cy="1428750"/>
          </a:xfrm>
          <a:prstGeom prst="roundRect">
            <a:avLst>
              <a:gd name="adj" fmla="val 10667"/>
            </a:avLst>
          </a:prstGeom>
          <a:solidFill>
            <a:srgbClr val="EFF6FA"/>
          </a:solidFill>
          <a:ln w="11430">
            <a:solidFill>
              <a:srgbClr val="0078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FF025F0-B9DB-4D15-BF80-AE8CA9109959}"/>
              </a:ext>
            </a:extLst>
          </p:cNvPr>
          <p:cNvSpPr>
            <a:spLocks noGrp="1"/>
          </p:cNvSpPr>
          <p:nvPr/>
        </p:nvSpPr>
        <p:spPr>
          <a:xfrm>
            <a:off x="11572875" y="2495550"/>
            <a:ext cx="2857500" cy="1428750"/>
          </a:xfrm>
          <a:prstGeom prst="roundRect">
            <a:avLst>
              <a:gd name="adj" fmla="val 10667"/>
            </a:avLst>
          </a:prstGeom>
          <a:solidFill>
            <a:srgbClr val="FCEFF3"/>
          </a:solidFill>
          <a:ln w="11430">
            <a:solidFill>
              <a:srgbClr val="B600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EB6D894-9201-4A04-9D98-FD281AA4D7A6}"/>
              </a:ext>
            </a:extLst>
          </p:cNvPr>
          <p:cNvSpPr>
            <a:spLocks noGrp="1"/>
          </p:cNvSpPr>
          <p:nvPr/>
        </p:nvSpPr>
        <p:spPr>
          <a:xfrm>
            <a:off x="1066800" y="2705100"/>
            <a:ext cx="2438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9075"/>
          </a:bodyPr>
          <a:lstStyle/>
          <a:p>
            <a:pPr algn="ctr">
              <a:lnSpc>
                <a:spcPct val="105000"/>
              </a:lnSpc>
              <a:buNone/>
              <a:defRPr sz="19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同步 rosbag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E65B274-9700-4E56-A04C-6571FAC66ADD}"/>
              </a:ext>
            </a:extLst>
          </p:cNvPr>
          <p:cNvSpPr>
            <a:spLocks noGrp="1"/>
          </p:cNvSpPr>
          <p:nvPr/>
        </p:nvSpPr>
        <p:spPr>
          <a:xfrm>
            <a:off x="1066800" y="3105150"/>
            <a:ext cx="24384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Synchronized datasets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4B41F7C-8548-4C3A-B96A-45E5569F7C85}"/>
              </a:ext>
            </a:extLst>
          </p:cNvPr>
          <p:cNvSpPr>
            <a:spLocks noGrp="1"/>
          </p:cNvSpPr>
          <p:nvPr/>
        </p:nvSpPr>
        <p:spPr>
          <a:xfrm>
            <a:off x="4638675" y="2705100"/>
            <a:ext cx="2438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9075"/>
          </a:bodyPr>
          <a:lstStyle/>
          <a:p>
            <a:pPr algn="ctr">
              <a:lnSpc>
                <a:spcPct val="105000"/>
              </a:lnSpc>
              <a:buNone/>
              <a:defRPr sz="19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离线融合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91511D6-F08E-4682-911A-287E4EF4BA2B}"/>
              </a:ext>
            </a:extLst>
          </p:cNvPr>
          <p:cNvSpPr>
            <a:spLocks noGrp="1"/>
          </p:cNvSpPr>
          <p:nvPr/>
        </p:nvSpPr>
        <p:spPr>
          <a:xfrm>
            <a:off x="4638675" y="3105150"/>
            <a:ext cx="24384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Offline fusion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5095C9F-887F-4125-A671-1265096654EC}"/>
              </a:ext>
            </a:extLst>
          </p:cNvPr>
          <p:cNvSpPr>
            <a:spLocks noGrp="1"/>
          </p:cNvSpPr>
          <p:nvPr/>
        </p:nvSpPr>
        <p:spPr>
          <a:xfrm>
            <a:off x="8210550" y="2705100"/>
            <a:ext cx="2438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9075"/>
          </a:bodyPr>
          <a:lstStyle/>
          <a:p>
            <a:pPr algn="ctr">
              <a:lnSpc>
                <a:spcPct val="105000"/>
              </a:lnSpc>
              <a:buNone/>
              <a:defRPr sz="19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异常值处理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04F9D9C-84C7-4780-9B8B-1C59C22970FA}"/>
              </a:ext>
            </a:extLst>
          </p:cNvPr>
          <p:cNvSpPr>
            <a:spLocks noGrp="1"/>
          </p:cNvSpPr>
          <p:nvPr/>
        </p:nvSpPr>
        <p:spPr>
          <a:xfrm>
            <a:off x="8210550" y="3105150"/>
            <a:ext cx="24384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Outlier handling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ABE6F4C-503B-4ABE-8E5E-EA2A1B656223}"/>
              </a:ext>
            </a:extLst>
          </p:cNvPr>
          <p:cNvSpPr>
            <a:spLocks noGrp="1"/>
          </p:cNvSpPr>
          <p:nvPr/>
        </p:nvSpPr>
        <p:spPr>
          <a:xfrm>
            <a:off x="11782425" y="2705100"/>
            <a:ext cx="2438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9075"/>
          </a:bodyPr>
          <a:lstStyle/>
          <a:p>
            <a:pPr algn="ctr">
              <a:lnSpc>
                <a:spcPct val="105000"/>
              </a:lnSpc>
              <a:buNone/>
              <a:defRPr sz="1950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rPr>
              <a:t>在线节点与演示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8EFD1AE-B294-43A1-BF8B-24CD5507F4BF}"/>
              </a:ext>
            </a:extLst>
          </p:cNvPr>
          <p:cNvSpPr>
            <a:spLocks noGrp="1"/>
          </p:cNvSpPr>
          <p:nvPr/>
        </p:nvSpPr>
        <p:spPr>
          <a:xfrm>
            <a:off x="11782425" y="3105150"/>
            <a:ext cx="24384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Online node and demo</a:t>
            </a:r>
          </a:p>
        </p:txBody>
      </p:sp>
      <p:cxnSp>
        <p:nvCxnSpPr>
          <p:cNvPr id="50" name="直接箭头连接符 49"/>
          <p:cNvCxnSpPr>
            <a:stCxn id="7" idx="3"/>
            <a:endCxn id="8" idx="1"/>
          </p:cNvCxnSpPr>
          <p:nvPr/>
        </p:nvCxnSpPr>
        <p:spPr>
          <a:xfrm>
            <a:off x="3714750" y="3209925"/>
            <a:ext cx="714375" cy="0"/>
          </a:xfrm>
          <a:prstGeom prst="straightConnector1">
            <a:avLst/>
          </a:prstGeom>
          <a:ln w="28575">
            <a:solidFill>
              <a:srgbClr val="0078B5"/>
            </a:solidFill>
            <a:prstDash val="solid"/>
            <a:tailEnd type="triangle" w="sm" len="sm"/>
          </a:ln>
        </p:spPr>
      </p:cxnSp>
      <p:cxnSp>
        <p:nvCxnSpPr>
          <p:cNvPr id="51" name="直接箭头连接符 50"/>
          <p:cNvCxnSpPr>
            <a:stCxn id="8" idx="3"/>
            <a:endCxn id="9" idx="1"/>
          </p:cNvCxnSpPr>
          <p:nvPr/>
        </p:nvCxnSpPr>
        <p:spPr>
          <a:xfrm>
            <a:off x="7286625" y="3209925"/>
            <a:ext cx="714375" cy="0"/>
          </a:xfrm>
          <a:prstGeom prst="straightConnector1">
            <a:avLst/>
          </a:prstGeom>
          <a:ln w="28575">
            <a:solidFill>
              <a:srgbClr val="0078B5"/>
            </a:solidFill>
            <a:prstDash val="solid"/>
            <a:tailEnd type="triangle" w="sm" len="sm"/>
          </a:ln>
        </p:spPr>
      </p:cxnSp>
      <p:cxnSp>
        <p:nvCxnSpPr>
          <p:cNvPr id="52" name="直接箭头连接符 51"/>
          <p:cNvCxnSpPr>
            <a:stCxn id="9" idx="3"/>
            <a:endCxn id="10" idx="1"/>
          </p:cNvCxnSpPr>
          <p:nvPr/>
        </p:nvCxnSpPr>
        <p:spPr>
          <a:xfrm>
            <a:off x="10858500" y="3209925"/>
            <a:ext cx="714375" cy="0"/>
          </a:xfrm>
          <a:prstGeom prst="straightConnector1">
            <a:avLst/>
          </a:prstGeom>
          <a:ln w="28575">
            <a:solidFill>
              <a:srgbClr val="B60032"/>
            </a:solidFill>
            <a:prstDash val="solid"/>
            <a:tailEnd type="triangle" w="sm" len="sm"/>
          </a:ln>
        </p:spPr>
      </p:cxn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8CD947D0-2F3B-4A7C-9EAF-6FA432057876}"/>
              </a:ext>
            </a:extLst>
          </p:cNvPr>
          <p:cNvSpPr>
            <a:spLocks noGrp="1"/>
          </p:cNvSpPr>
          <p:nvPr/>
        </p:nvSpPr>
        <p:spPr>
          <a:xfrm>
            <a:off x="1619250" y="4638675"/>
            <a:ext cx="12001500" cy="1543050"/>
          </a:xfrm>
          <a:prstGeom prst="roundRect">
            <a:avLst>
              <a:gd name="adj" fmla="val 11111"/>
            </a:avLst>
          </a:prstGeom>
          <a:solidFill>
            <a:srgbClr val="123F6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9AE423D-5B73-44A6-87D6-60772460E452}"/>
              </a:ext>
            </a:extLst>
          </p:cNvPr>
          <p:cNvSpPr>
            <a:spLocks noGrp="1"/>
          </p:cNvSpPr>
          <p:nvPr/>
        </p:nvSpPr>
        <p:spPr>
          <a:xfrm>
            <a:off x="1943100" y="4819650"/>
            <a:ext cx="3905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8261"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49A8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49A8CF"/>
                </a:solidFill>
                <a:latin typeface="Microsoft YaHei"/>
                <a:ea typeface="Microsoft YaHei"/>
                <a:cs typeface="Microsoft YaHei"/>
              </a:rPr>
              <a:t>观测模型 / Measurement model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30F4759-237A-46D3-BD54-73631E6EB662}"/>
              </a:ext>
            </a:extLst>
          </p:cNvPr>
          <p:cNvSpPr>
            <a:spLocks noGrp="1"/>
          </p:cNvSpPr>
          <p:nvPr/>
        </p:nvSpPr>
        <p:spPr>
          <a:xfrm>
            <a:off x="2000250" y="5248275"/>
            <a:ext cx="414337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z₁₂ = ‖p₁ − p₂‖ + ε</a:t>
            </a:r>
          </a:p>
        </p:txBody>
      </p:sp>
      <p:sp>
        <p:nvSpPr>
          <p:cNvPr id="25" name="直接连接符 24">
            <a:extLst>
              <a:ext uri="{FF2B5EF4-FFF2-40B4-BE49-F238E27FC236}">
                <a16:creationId xmlns:a16="http://schemas.microsoft.com/office/drawing/2014/main" id="{873A1553-C0E6-44B9-A0B4-A21E2E8E459E}"/>
              </a:ext>
            </a:extLst>
          </p:cNvPr>
          <p:cNvSpPr>
            <a:spLocks noGrp="1"/>
          </p:cNvSpPr>
          <p:nvPr/>
        </p:nvSpPr>
        <p:spPr>
          <a:xfrm>
            <a:off x="6572250" y="4857750"/>
            <a:ext cx="19050" cy="1047750"/>
          </a:xfrm>
          <a:prstGeom prst="line">
            <a:avLst/>
          </a:prstGeom>
          <a:noFill/>
          <a:ln w="19050">
            <a:solidFill>
              <a:srgbClr val="5D819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116B45F-FABA-44D1-94E7-ECB8D81378D1}"/>
              </a:ext>
            </a:extLst>
          </p:cNvPr>
          <p:cNvSpPr>
            <a:spLocks noGrp="1"/>
          </p:cNvSpPr>
          <p:nvPr/>
        </p:nvSpPr>
        <p:spPr>
          <a:xfrm>
            <a:off x="7086600" y="4838700"/>
            <a:ext cx="2286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3795"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49A8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9A8CF"/>
                </a:solidFill>
                <a:latin typeface="Microsoft YaHei"/>
                <a:ea typeface="Microsoft YaHei"/>
                <a:cs typeface="Microsoft YaHei"/>
              </a:rPr>
              <a:t>第一版方法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2D9918C-412C-4C86-B4E0-C0E5196B4344}"/>
              </a:ext>
            </a:extLst>
          </p:cNvPr>
          <p:cNvSpPr>
            <a:spLocks noGrp="1"/>
          </p:cNvSpPr>
          <p:nvPr/>
        </p:nvSpPr>
        <p:spPr>
          <a:xfrm>
            <a:off x="7086600" y="5238750"/>
            <a:ext cx="54292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9040" lnSpcReduction="10000"/>
          </a:bodyPr>
          <a:lstStyle/>
          <a:p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集中式 EKF 或小型因子图</a:t>
            </a:r>
          </a:p>
          <a:p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先离线复现，再转为实时节点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F26DF76-4523-4E06-81F2-A7D193724A43}"/>
              </a:ext>
            </a:extLst>
          </p:cNvPr>
          <p:cNvSpPr>
            <a:spLocks noGrp="1"/>
          </p:cNvSpPr>
          <p:nvPr/>
        </p:nvSpPr>
        <p:spPr>
          <a:xfrm>
            <a:off x="7086600" y="5848350"/>
            <a:ext cx="5905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79621" lnSpcReduction="20000"/>
          </a:bodyPr>
          <a:lstStyle/>
          <a:p>
            <a:pPr algn="l">
              <a:lnSpc>
                <a:spcPct val="105000"/>
              </a:lnSpc>
              <a:buNone/>
              <a:defRPr sz="1238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Centralized EKF or a compact factor graph</a:t>
            </a:r>
          </a:p>
          <a:p>
            <a:pPr algn="l">
              <a:lnSpc>
                <a:spcPct val="105000"/>
              </a:lnSpc>
              <a:buNone/>
              <a:defRPr sz="1238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Validate offline before real-time deployment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FC8265B6-D5B5-4F26-8A45-ACE0A8FA0DEB}"/>
              </a:ext>
            </a:extLst>
          </p:cNvPr>
          <p:cNvSpPr>
            <a:spLocks noGrp="1"/>
          </p:cNvSpPr>
          <p:nvPr/>
        </p:nvSpPr>
        <p:spPr>
          <a:xfrm>
            <a:off x="742950" y="7124700"/>
            <a:ext cx="13716000" cy="628650"/>
          </a:xfrm>
          <a:prstGeom prst="roundRect">
            <a:avLst>
              <a:gd name="adj" fmla="val 21212"/>
            </a:avLst>
          </a:prstGeom>
          <a:solidFill>
            <a:srgbClr val="123F6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1CAD86D-5CEE-4E3B-9530-2CBA799B0CAA}"/>
              </a:ext>
            </a:extLst>
          </p:cNvPr>
          <p:cNvSpPr>
            <a:spLocks noGrp="1"/>
          </p:cNvSpPr>
          <p:nvPr/>
        </p:nvSpPr>
        <p:spPr>
          <a:xfrm>
            <a:off x="971550" y="7200900"/>
            <a:ext cx="7334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7217" lnSpcReduction="10000"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验收：RViz 实时显示两车轨迹、UWB 距离和融合状态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86B18E0-DD4A-41A1-BAEE-3011B91A4F47}"/>
              </a:ext>
            </a:extLst>
          </p:cNvPr>
          <p:cNvSpPr>
            <a:spLocks noGrp="1"/>
          </p:cNvSpPr>
          <p:nvPr/>
        </p:nvSpPr>
        <p:spPr>
          <a:xfrm>
            <a:off x="8477250" y="7219950"/>
            <a:ext cx="571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Exit criterion: a repeatable live demonstration</a:t>
            </a:r>
          </a:p>
        </p:txBody>
      </p:sp>
    </p:spTree>
    <p:extLst>
      <p:ext uri="{BB962C8B-B14F-4D97-AF65-F5344CB8AC3E}">
        <p14:creationId xmlns:p14="http://schemas.microsoft.com/office/powerpoint/2010/main" val="2002654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9928411-1A62-417C-94BA-1221BA39C116}"/>
              </a:ext>
            </a:extLst>
          </p:cNvPr>
          <p:cNvSpPr>
            <a:spLocks noGrp="1"/>
          </p:cNvSpPr>
          <p:nvPr/>
        </p:nvSpPr>
        <p:spPr>
          <a:xfrm>
            <a:off x="13639800" y="8039100"/>
            <a:ext cx="1600200" cy="533400"/>
          </a:xfrm>
          <a:prstGeom prst="rect">
            <a:avLst/>
          </a:prstGeom>
          <a:solidFill>
            <a:srgbClr val="B600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276DD36-707F-44CD-AF11-83D971DE0261}"/>
              </a:ext>
            </a:extLst>
          </p:cNvPr>
          <p:cNvSpPr>
            <a:spLocks noGrp="1"/>
          </p:cNvSpPr>
          <p:nvPr/>
        </p:nvSpPr>
        <p:spPr>
          <a:xfrm>
            <a:off x="13811250" y="8124825"/>
            <a:ext cx="1285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3795"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Page   8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B0F6874-2AFE-4C26-BA95-EF5B637BB21A}"/>
              </a:ext>
            </a:extLst>
          </p:cNvPr>
          <p:cNvSpPr>
            <a:spLocks noGrp="1"/>
          </p:cNvSpPr>
          <p:nvPr/>
        </p:nvSpPr>
        <p:spPr>
          <a:xfrm>
            <a:off x="628650" y="1000125"/>
            <a:ext cx="85725" cy="695325"/>
          </a:xfrm>
          <a:prstGeom prst="rect">
            <a:avLst/>
          </a:prstGeom>
          <a:solidFill>
            <a:srgbClr val="B600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FE35590-ABEF-4985-8EF3-98870FF3F713}"/>
              </a:ext>
            </a:extLst>
          </p:cNvPr>
          <p:cNvSpPr>
            <a:spLocks noGrp="1"/>
          </p:cNvSpPr>
          <p:nvPr/>
        </p:nvSpPr>
        <p:spPr>
          <a:xfrm>
            <a:off x="857250" y="885825"/>
            <a:ext cx="68580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4482"/>
          </a:bodyPr>
          <a:lstStyle/>
          <a:p>
            <a:pPr algn="l">
              <a:lnSpc>
                <a:spcPct val="105000"/>
              </a:lnSpc>
              <a:buNone/>
              <a:defRPr sz="31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实验场景与评价指标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B18498F-ED93-43EE-AB8E-370823959750}"/>
              </a:ext>
            </a:extLst>
          </p:cNvPr>
          <p:cNvSpPr>
            <a:spLocks noGrp="1"/>
          </p:cNvSpPr>
          <p:nvPr/>
        </p:nvSpPr>
        <p:spPr>
          <a:xfrm>
            <a:off x="876300" y="1381125"/>
            <a:ext cx="78105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rPr>
              <a:t>Test Scenarios and Evaluation Metrics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="685800" y="2076450"/>
          <a:ext cx="13906500" cy="4762499"/>
        </p:xfrm>
        <a:graphic>
          <a:graphicData uri="http://schemas.openxmlformats.org/drawingml/2006/table">
            <a:tbl>
              <a:tblPr/>
              <a:tblGrid>
                <a:gridCol w="3104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7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91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0357"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</a:t>
                      </a:r>
                    </a:p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Scenario</a:t>
                      </a:r>
                    </a:p>
                  </a:txBody>
                  <a:tcPr marL="76200" marR="76200" marT="47625" marB="47625" anchor="ctr">
                    <a:solidFill>
                      <a:srgbClr val="123F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验证目的</a:t>
                      </a:r>
                    </a:p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Purpose</a:t>
                      </a:r>
                    </a:p>
                  </a:txBody>
                  <a:tcPr marL="76200" marR="76200" marT="47625" marB="47625" anchor="ctr">
                    <a:solidFill>
                      <a:srgbClr val="123F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对比方法</a:t>
                      </a:r>
                    </a:p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Comparison</a:t>
                      </a:r>
                    </a:p>
                  </a:txBody>
                  <a:tcPr marL="76200" marR="76200" marT="47625" marB="47625" anchor="ctr">
                    <a:solidFill>
                      <a:srgbClr val="123F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主要指标</a:t>
                      </a:r>
                    </a:p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Metrics</a:t>
                      </a:r>
                    </a:p>
                  </a:txBody>
                  <a:tcPr marL="76200" marR="76200" marT="47625" marB="47625" anchor="ctr">
                    <a:solidFill>
                      <a:srgbClr val="123F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0357"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两车静止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Static robots</a:t>
                      </a:r>
                    </a:p>
                  </a:txBody>
                  <a:tcPr marL="9525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UWB 偏差与稳定性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Range bias and stability</a:t>
                      </a:r>
                    </a:p>
                  </a:txBody>
                  <a:tcPr marL="9525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原始与标定后 UWB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Raw vs calibrated UWB</a:t>
                      </a:r>
                    </a:p>
                  </a:txBody>
                  <a:tcPr marL="9525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均值、标准差、丢包率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Mean, SD, packet loss</a:t>
                      </a:r>
                    </a:p>
                  </a:txBody>
                  <a:tcPr marL="9525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0357"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一静一动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One robot moving</a:t>
                      </a:r>
                    </a:p>
                  </a:txBody>
                  <a:tcPr marL="95250" marR="76200" marT="38100" marB="38100" anchor="ctr"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时间同步与动态延迟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Clock sync and latency</a:t>
                      </a:r>
                    </a:p>
                  </a:txBody>
                  <a:tcPr marL="95250" marR="76200" marT="38100" marB="38100" anchor="ctr"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里程计、IMU、UWB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Odometry, IMU and UWB</a:t>
                      </a:r>
                    </a:p>
                  </a:txBody>
                  <a:tcPr marL="95250" marR="76200" marT="38100" marB="38100" anchor="ctr"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距离残差、延迟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Range residual, latency</a:t>
                      </a:r>
                    </a:p>
                  </a:txBody>
                  <a:tcPr marL="95250" marR="76200" marT="38100" marB="38100" anchor="ctr">
                    <a:solidFill>
                      <a:srgbClr val="EF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0357"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平行运动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Parallel motion</a:t>
                      </a:r>
                    </a:p>
                  </a:txBody>
                  <a:tcPr marL="9525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弱几何下的约束效果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Constraint under weak geometry</a:t>
                      </a:r>
                    </a:p>
                  </a:txBody>
                  <a:tcPr marL="9525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独立定位与协同融合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Independent vs cooperative</a:t>
                      </a:r>
                    </a:p>
                  </a:txBody>
                  <a:tcPr marL="9525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ATE、RPE、车间误差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ATE, RPE, relative error</a:t>
                      </a:r>
                    </a:p>
                  </a:txBody>
                  <a:tcPr marL="9525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0357"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交叉运动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Crossing paths</a:t>
                      </a:r>
                    </a:p>
                  </a:txBody>
                  <a:tcPr marL="95250" marR="76200" marT="38100" marB="38100" anchor="ctr"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几何变化与在线稳定性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Changing geometry</a:t>
                      </a:r>
                    </a:p>
                  </a:txBody>
                  <a:tcPr marL="95250" marR="76200" marT="38100" marB="38100" anchor="ctr"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 UWB 与加入 UWB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Without vs with UWB</a:t>
                      </a:r>
                    </a:p>
                  </a:txBody>
                  <a:tcPr marL="95250" marR="76200" marT="38100" marB="38100" anchor="ctr"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RMSE、轨迹连续性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RMSE, continuity</a:t>
                      </a:r>
                    </a:p>
                  </a:txBody>
                  <a:tcPr marL="95250" marR="76200" marT="38100" marB="38100" anchor="ctr">
                    <a:solidFill>
                      <a:srgbClr val="EF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0357"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遮挡与丢包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Occlusion and dropout</a:t>
                      </a:r>
                    </a:p>
                  </a:txBody>
                  <a:tcPr marL="9525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鲁棒性与恢复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Robustness and recovery</a:t>
                      </a:r>
                    </a:p>
                  </a:txBody>
                  <a:tcPr marL="9525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普通融合与异常值处理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Plain vs robust fusion</a:t>
                      </a:r>
                    </a:p>
                  </a:txBody>
                  <a:tcPr marL="9525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异常率、恢复时间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Outlier rate, recovery time</a:t>
                      </a:r>
                    </a:p>
                  </a:txBody>
                  <a:tcPr marL="9525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0357"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闭环返回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Loop return</a:t>
                      </a:r>
                    </a:p>
                  </a:txBody>
                  <a:tcPr marL="95250" marR="76200" marT="38100" marB="38100" anchor="ctr"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累计漂移与可重复性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Drift and repeatability</a:t>
                      </a:r>
                    </a:p>
                  </a:txBody>
                  <a:tcPr marL="95250" marR="76200" marT="38100" marB="38100" anchor="ctr"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多次重复实验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Repeated trials</a:t>
                      </a:r>
                    </a:p>
                  </a:txBody>
                  <a:tcPr marL="95250" marR="76200" marT="38100" marB="38100" anchor="ctr"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终点误差、运行频率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End error, update rate</a:t>
                      </a:r>
                    </a:p>
                  </a:txBody>
                  <a:tcPr marL="95250" marR="76200" marT="38100" marB="38100" anchor="ctr">
                    <a:solidFill>
                      <a:srgbClr val="EF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F42BDB22-2196-4F9A-BB09-F33F8392F962}"/>
              </a:ext>
            </a:extLst>
          </p:cNvPr>
          <p:cNvSpPr>
            <a:spLocks noGrp="1"/>
          </p:cNvSpPr>
          <p:nvPr/>
        </p:nvSpPr>
        <p:spPr>
          <a:xfrm>
            <a:off x="1847850" y="7086600"/>
            <a:ext cx="11525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3795"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rPr>
              <a:t>性能改善属于待验证结果，月底汇报同时呈现有效情况和失败情况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9406754-0CA4-402E-BC2A-DA8A30C80804}"/>
              </a:ext>
            </a:extLst>
          </p:cNvPr>
          <p:cNvSpPr>
            <a:spLocks noGrp="1"/>
          </p:cNvSpPr>
          <p:nvPr/>
        </p:nvSpPr>
        <p:spPr>
          <a:xfrm>
            <a:off x="1847850" y="7381875"/>
            <a:ext cx="11525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38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Any performance gain remains an experimental finding, including failure cases</a:t>
            </a:r>
          </a:p>
        </p:txBody>
      </p:sp>
    </p:spTree>
    <p:extLst>
      <p:ext uri="{BB962C8B-B14F-4D97-AF65-F5344CB8AC3E}">
        <p14:creationId xmlns:p14="http://schemas.microsoft.com/office/powerpoint/2010/main" val="1135485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E0D3A1C-EAFB-4FF3-B539-7C26111257A3}"/>
              </a:ext>
            </a:extLst>
          </p:cNvPr>
          <p:cNvSpPr>
            <a:spLocks noGrp="1"/>
          </p:cNvSpPr>
          <p:nvPr/>
        </p:nvSpPr>
        <p:spPr>
          <a:xfrm>
            <a:off x="13639800" y="8039100"/>
            <a:ext cx="1600200" cy="533400"/>
          </a:xfrm>
          <a:prstGeom prst="rect">
            <a:avLst/>
          </a:prstGeom>
          <a:solidFill>
            <a:srgbClr val="B600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E2E4C84-8D46-4712-8462-2F88E1FB7E8D}"/>
              </a:ext>
            </a:extLst>
          </p:cNvPr>
          <p:cNvSpPr>
            <a:spLocks noGrp="1"/>
          </p:cNvSpPr>
          <p:nvPr/>
        </p:nvSpPr>
        <p:spPr>
          <a:xfrm>
            <a:off x="13811250" y="8124825"/>
            <a:ext cx="1285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3795"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Page   9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5666D28-3D62-4B7F-8114-B140CC261FF1}"/>
              </a:ext>
            </a:extLst>
          </p:cNvPr>
          <p:cNvSpPr>
            <a:spLocks noGrp="1"/>
          </p:cNvSpPr>
          <p:nvPr/>
        </p:nvSpPr>
        <p:spPr>
          <a:xfrm>
            <a:off x="628650" y="1000125"/>
            <a:ext cx="85725" cy="695325"/>
          </a:xfrm>
          <a:prstGeom prst="rect">
            <a:avLst/>
          </a:prstGeom>
          <a:solidFill>
            <a:srgbClr val="B600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5BEEB3F-31C0-49AD-B59C-312FB9A2E6BA}"/>
              </a:ext>
            </a:extLst>
          </p:cNvPr>
          <p:cNvSpPr>
            <a:spLocks noGrp="1"/>
          </p:cNvSpPr>
          <p:nvPr/>
        </p:nvSpPr>
        <p:spPr>
          <a:xfrm>
            <a:off x="857250" y="885825"/>
            <a:ext cx="68580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4482"/>
          </a:bodyPr>
          <a:lstStyle/>
          <a:p>
            <a:pPr algn="l">
              <a:lnSpc>
                <a:spcPct val="105000"/>
              </a:lnSpc>
              <a:buNone/>
              <a:defRPr sz="31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3150" b="1" dirty="0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初步</a:t>
            </a:r>
            <a:r>
              <a:rPr sz="3150" b="1" dirty="0" err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预期成果</a:t>
            </a:r>
            <a:endParaRPr sz="3150" b="1" dirty="0">
              <a:solidFill>
                <a:srgbClr val="123F6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D6A9C73-07E7-4B1F-A81D-60916D56D8F6}"/>
              </a:ext>
            </a:extLst>
          </p:cNvPr>
          <p:cNvSpPr>
            <a:spLocks noGrp="1"/>
          </p:cNvSpPr>
          <p:nvPr/>
        </p:nvSpPr>
        <p:spPr>
          <a:xfrm>
            <a:off x="876300" y="1381125"/>
            <a:ext cx="78105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rPr>
              <a:t>Expected Outcomes by the End of the Month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1D785FD6-BF3F-4509-BAAD-DDD2CE3846F3}"/>
              </a:ext>
            </a:extLst>
          </p:cNvPr>
          <p:cNvSpPr>
            <a:spLocks noGrp="1"/>
          </p:cNvSpPr>
          <p:nvPr/>
        </p:nvSpPr>
        <p:spPr>
          <a:xfrm>
            <a:off x="6238875" y="2381250"/>
            <a:ext cx="2762250" cy="2762250"/>
          </a:xfrm>
          <a:prstGeom prst="ellipse">
            <a:avLst/>
          </a:prstGeom>
          <a:solidFill>
            <a:srgbClr val="123F6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B0146E5-B965-4ED7-BC02-B2F30E998E62}"/>
              </a:ext>
            </a:extLst>
          </p:cNvPr>
          <p:cNvSpPr>
            <a:spLocks noGrp="1"/>
          </p:cNvSpPr>
          <p:nvPr/>
        </p:nvSpPr>
        <p:spPr>
          <a:xfrm>
            <a:off x="6572250" y="2943225"/>
            <a:ext cx="2095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8039"/>
          </a:bodyPr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初步达成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4E9263D-17C4-49AD-A761-138E94B348AA}"/>
              </a:ext>
            </a:extLst>
          </p:cNvPr>
          <p:cNvSpPr>
            <a:spLocks noGrp="1"/>
          </p:cNvSpPr>
          <p:nvPr/>
        </p:nvSpPr>
        <p:spPr>
          <a:xfrm>
            <a:off x="6572250" y="3514725"/>
            <a:ext cx="2095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725" b="1">
                <a:solidFill>
                  <a:srgbClr val="49A8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49A8CF"/>
                </a:solidFill>
                <a:latin typeface="Microsoft YaHei"/>
                <a:ea typeface="Microsoft YaHei"/>
                <a:cs typeface="Microsoft YaHei"/>
              </a:rPr>
              <a:t>INITIAL</a:t>
            </a:r>
          </a:p>
          <a:p>
            <a:pPr algn="ctr">
              <a:lnSpc>
                <a:spcPct val="100000"/>
              </a:lnSpc>
              <a:buNone/>
              <a:defRPr sz="1725" b="1">
                <a:solidFill>
                  <a:srgbClr val="49A8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49A8CF"/>
                </a:solidFill>
                <a:latin typeface="Microsoft YaHei"/>
                <a:ea typeface="Microsoft YaHei"/>
                <a:cs typeface="Microsoft YaHei"/>
              </a:rPr>
              <a:t>MILESTONE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ED0F91B-5ECC-4EE3-BD5A-19F53D1F7E06}"/>
              </a:ext>
            </a:extLst>
          </p:cNvPr>
          <p:cNvSpPr>
            <a:spLocks noGrp="1"/>
          </p:cNvSpPr>
          <p:nvPr/>
        </p:nvSpPr>
        <p:spPr>
          <a:xfrm>
            <a:off x="6572250" y="4324350"/>
            <a:ext cx="2095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3168"/>
          </a:bodyPr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可重复的双车</a:t>
            </a:r>
          </a:p>
          <a:p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协同定位演示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DEAEC5A-C1A4-425E-862B-ACC0B901A9D4}"/>
              </a:ext>
            </a:extLst>
          </p:cNvPr>
          <p:cNvSpPr>
            <a:spLocks noGrp="1"/>
          </p:cNvSpPr>
          <p:nvPr/>
        </p:nvSpPr>
        <p:spPr>
          <a:xfrm>
            <a:off x="914400" y="2247900"/>
            <a:ext cx="4095750" cy="1809750"/>
          </a:xfrm>
          <a:prstGeom prst="roundRect">
            <a:avLst>
              <a:gd name="adj" fmla="val 8421"/>
            </a:avLst>
          </a:prstGeom>
          <a:solidFill>
            <a:srgbClr val="F8FBFD"/>
          </a:solidFill>
          <a:ln w="9525">
            <a:solidFill>
              <a:srgbClr val="BDD3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75EDC22-8380-4BB5-BBBA-BAD40A5023DF}"/>
              </a:ext>
            </a:extLst>
          </p:cNvPr>
          <p:cNvSpPr>
            <a:spLocks noGrp="1"/>
          </p:cNvSpPr>
          <p:nvPr/>
        </p:nvSpPr>
        <p:spPr>
          <a:xfrm>
            <a:off x="1181100" y="2447925"/>
            <a:ext cx="3524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8203" lnSpcReduction="10000"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代码与配置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8E07F6E-B054-4415-83C9-856232C42462}"/>
              </a:ext>
            </a:extLst>
          </p:cNvPr>
          <p:cNvSpPr>
            <a:spLocks noGrp="1"/>
          </p:cNvSpPr>
          <p:nvPr/>
        </p:nvSpPr>
        <p:spPr>
          <a:xfrm>
            <a:off x="1181100" y="2962275"/>
            <a:ext cx="35242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84488" lnSpcReduction="10000"/>
          </a:bodyPr>
          <a:lstStyle/>
          <a:p>
            <a:pPr algn="l">
              <a:lnSpc>
                <a:spcPct val="115000"/>
              </a:lnSpc>
              <a:buNone/>
              <a:def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双车 launch、命名空间、TF、EKF/UWB 参数</a:t>
            </a:r>
          </a:p>
          <a:p>
            <a:pPr algn="l">
              <a:lnSpc>
                <a:spcPct val="115000"/>
              </a:lnSpc>
              <a:buNone/>
              <a:def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Dual-robot launch files, TF and fusion configs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DC12FD7-9C64-4B1B-840B-777542425827}"/>
              </a:ext>
            </a:extLst>
          </p:cNvPr>
          <p:cNvSpPr>
            <a:spLocks noGrp="1"/>
          </p:cNvSpPr>
          <p:nvPr/>
        </p:nvSpPr>
        <p:spPr>
          <a:xfrm>
            <a:off x="10229850" y="2247900"/>
            <a:ext cx="4095750" cy="1809750"/>
          </a:xfrm>
          <a:prstGeom prst="roundRect">
            <a:avLst>
              <a:gd name="adj" fmla="val 8421"/>
            </a:avLst>
          </a:prstGeom>
          <a:solidFill>
            <a:srgbClr val="EFF6FA"/>
          </a:solidFill>
          <a:ln w="9525">
            <a:solidFill>
              <a:srgbClr val="0078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7FA8172-BADD-484F-AFEE-DD4A7235F447}"/>
              </a:ext>
            </a:extLst>
          </p:cNvPr>
          <p:cNvSpPr>
            <a:spLocks noGrp="1"/>
          </p:cNvSpPr>
          <p:nvPr/>
        </p:nvSpPr>
        <p:spPr>
          <a:xfrm>
            <a:off x="10496550" y="2447925"/>
            <a:ext cx="3524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8203" lnSpcReduction="10000"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数据与评估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CCD68C2-DD68-4DF4-A6ED-49C05FBC2E3C}"/>
              </a:ext>
            </a:extLst>
          </p:cNvPr>
          <p:cNvSpPr>
            <a:spLocks noGrp="1"/>
          </p:cNvSpPr>
          <p:nvPr/>
        </p:nvSpPr>
        <p:spPr>
          <a:xfrm>
            <a:off x="10496550" y="2962275"/>
            <a:ext cx="35242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89717"/>
          </a:bodyPr>
          <a:lstStyle/>
          <a:p>
            <a:pPr algn="l">
              <a:lnSpc>
                <a:spcPct val="115000"/>
              </a:lnSpc>
              <a:buNone/>
              <a:def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同步 rosbag、UWB 标定统计、轨迹对比</a:t>
            </a:r>
          </a:p>
          <a:p>
            <a:pPr algn="l">
              <a:lnSpc>
                <a:spcPct val="115000"/>
              </a:lnSpc>
              <a:buNone/>
              <a:def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Synchronized bags, calibration and trajectory comparison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77F16E5-5CDC-4748-B099-07D0C3DD7B4F}"/>
              </a:ext>
            </a:extLst>
          </p:cNvPr>
          <p:cNvSpPr>
            <a:spLocks noGrp="1"/>
          </p:cNvSpPr>
          <p:nvPr/>
        </p:nvSpPr>
        <p:spPr>
          <a:xfrm>
            <a:off x="914400" y="4762500"/>
            <a:ext cx="4095750" cy="1809750"/>
          </a:xfrm>
          <a:prstGeom prst="roundRect">
            <a:avLst>
              <a:gd name="adj" fmla="val 8421"/>
            </a:avLst>
          </a:prstGeom>
          <a:solidFill>
            <a:srgbClr val="EFF6FA"/>
          </a:solidFill>
          <a:ln w="9525">
            <a:solidFill>
              <a:srgbClr val="0078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5193C45-E61F-473A-9D57-015FF22B005A}"/>
              </a:ext>
            </a:extLst>
          </p:cNvPr>
          <p:cNvSpPr>
            <a:spLocks noGrp="1"/>
          </p:cNvSpPr>
          <p:nvPr/>
        </p:nvSpPr>
        <p:spPr>
          <a:xfrm>
            <a:off x="1181100" y="4962525"/>
            <a:ext cx="3524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8203" lnSpcReduction="10000"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演示与记录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04D8D36-E623-4C51-A090-D3CA918168B2}"/>
              </a:ext>
            </a:extLst>
          </p:cNvPr>
          <p:cNvSpPr>
            <a:spLocks noGrp="1"/>
          </p:cNvSpPr>
          <p:nvPr/>
        </p:nvSpPr>
        <p:spPr>
          <a:xfrm>
            <a:off x="1181100" y="5476875"/>
            <a:ext cx="35242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7217" lnSpcReduction="10000"/>
          </a:bodyPr>
          <a:lstStyle/>
          <a:p>
            <a:pPr algn="l">
              <a:lnSpc>
                <a:spcPct val="115000"/>
              </a:lnSpc>
              <a:buNone/>
              <a:def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RViz 实时展示、运行说明、问题清单</a:t>
            </a:r>
          </a:p>
          <a:p>
            <a:pPr algn="l">
              <a:lnSpc>
                <a:spcPct val="115000"/>
              </a:lnSpc>
              <a:buNone/>
              <a:def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RViz demo, reproduction notes and issue log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BF9F45A0-356E-4713-B7EA-DDC44F8C8BEA}"/>
              </a:ext>
            </a:extLst>
          </p:cNvPr>
          <p:cNvSpPr>
            <a:spLocks noGrp="1"/>
          </p:cNvSpPr>
          <p:nvPr/>
        </p:nvSpPr>
        <p:spPr>
          <a:xfrm>
            <a:off x="10229850" y="4762500"/>
            <a:ext cx="4095750" cy="1809750"/>
          </a:xfrm>
          <a:prstGeom prst="roundRect">
            <a:avLst>
              <a:gd name="adj" fmla="val 8421"/>
            </a:avLst>
          </a:prstGeom>
          <a:solidFill>
            <a:srgbClr val="FFF5E6"/>
          </a:solidFill>
          <a:ln w="9525">
            <a:solidFill>
              <a:srgbClr val="E9B65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980F8CE-8B5D-4BA4-8C79-24121DE1F517}"/>
              </a:ext>
            </a:extLst>
          </p:cNvPr>
          <p:cNvSpPr>
            <a:spLocks noGrp="1"/>
          </p:cNvSpPr>
          <p:nvPr/>
        </p:nvSpPr>
        <p:spPr>
          <a:xfrm>
            <a:off x="10496550" y="4962525"/>
            <a:ext cx="3524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8203" lnSpcReduction="10000"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8658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86580E"/>
                </a:solidFill>
                <a:latin typeface="Microsoft YaHei"/>
                <a:ea typeface="Microsoft YaHei"/>
                <a:cs typeface="Microsoft YaHei"/>
              </a:rPr>
              <a:t>明确边界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A61041C-8715-4750-921A-192F55CE0999}"/>
              </a:ext>
            </a:extLst>
          </p:cNvPr>
          <p:cNvSpPr>
            <a:spLocks noGrp="1"/>
          </p:cNvSpPr>
          <p:nvPr/>
        </p:nvSpPr>
        <p:spPr>
          <a:xfrm>
            <a:off x="10496550" y="5476875"/>
            <a:ext cx="35242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89717"/>
          </a:bodyPr>
          <a:lstStyle/>
          <a:p>
            <a:pPr algn="l">
              <a:lnSpc>
                <a:spcPct val="115000"/>
              </a:lnSpc>
              <a:buNone/>
              <a:defRPr sz="1575" b="0">
                <a:solidFill>
                  <a:srgbClr val="8658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86580E"/>
                </a:solidFill>
                <a:latin typeface="Microsoft YaHei"/>
                <a:ea typeface="Microsoft YaHei"/>
                <a:cs typeface="Microsoft YaHei"/>
              </a:rPr>
              <a:t>记录不可观条件、UWB 失效和未解决问题</a:t>
            </a:r>
          </a:p>
          <a:p>
            <a:pPr algn="l">
              <a:lnSpc>
                <a:spcPct val="115000"/>
              </a:lnSpc>
              <a:buNone/>
              <a:defRPr sz="1575" b="0">
                <a:solidFill>
                  <a:srgbClr val="8658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86580E"/>
                </a:solidFill>
                <a:latin typeface="Microsoft YaHei"/>
                <a:ea typeface="Microsoft YaHei"/>
                <a:cs typeface="Microsoft YaHei"/>
              </a:rPr>
              <a:t>Document unobservable cases, failures and open issues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01CBCA3B-34B9-4CCB-BE5E-D11E98E4DCDA}"/>
              </a:ext>
            </a:extLst>
          </p:cNvPr>
          <p:cNvSpPr>
            <a:spLocks noGrp="1"/>
          </p:cNvSpPr>
          <p:nvPr/>
        </p:nvSpPr>
        <p:spPr>
          <a:xfrm>
            <a:off x="742950" y="7124700"/>
            <a:ext cx="13716000" cy="628650"/>
          </a:xfrm>
          <a:prstGeom prst="roundRect">
            <a:avLst>
              <a:gd name="adj" fmla="val 21212"/>
            </a:avLst>
          </a:prstGeom>
          <a:solidFill>
            <a:srgbClr val="123F6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61DBC40-2B8D-4E34-943D-F5E12BB48ABF}"/>
              </a:ext>
            </a:extLst>
          </p:cNvPr>
          <p:cNvSpPr>
            <a:spLocks noGrp="1"/>
          </p:cNvSpPr>
          <p:nvPr/>
        </p:nvSpPr>
        <p:spPr>
          <a:xfrm>
            <a:off x="971550" y="7200900"/>
            <a:ext cx="7334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7217" lnSpcReduction="10000"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本月成果定位：可运行、可测量、可复现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5EB221A-8762-4139-B1F3-36E949914B76}"/>
              </a:ext>
            </a:extLst>
          </p:cNvPr>
          <p:cNvSpPr>
            <a:spLocks noGrp="1"/>
          </p:cNvSpPr>
          <p:nvPr/>
        </p:nvSpPr>
        <p:spPr>
          <a:xfrm>
            <a:off x="8477250" y="7219950"/>
            <a:ext cx="571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Monthly outcome: runnable, measurable and reproducible</a:t>
            </a:r>
          </a:p>
        </p:txBody>
      </p:sp>
    </p:spTree>
    <p:extLst>
      <p:ext uri="{BB962C8B-B14F-4D97-AF65-F5344CB8AC3E}">
        <p14:creationId xmlns:p14="http://schemas.microsoft.com/office/powerpoint/2010/main" val="74459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-20139" y="0"/>
            <a:ext cx="15240000" cy="85725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AAC437E-8469-4647-BD6C-5C54A0F851D4}"/>
              </a:ext>
            </a:extLst>
          </p:cNvPr>
          <p:cNvSpPr>
            <a:spLocks noGrp="1"/>
          </p:cNvSpPr>
          <p:nvPr/>
        </p:nvSpPr>
        <p:spPr>
          <a:xfrm>
            <a:off x="13639800" y="8039100"/>
            <a:ext cx="1600200" cy="533400"/>
          </a:xfrm>
          <a:prstGeom prst="rect">
            <a:avLst/>
          </a:prstGeom>
          <a:solidFill>
            <a:srgbClr val="B600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AC6CC9-CE9E-4E00-9E35-03E06DEFA6AD}"/>
              </a:ext>
            </a:extLst>
          </p:cNvPr>
          <p:cNvSpPr>
            <a:spLocks noGrp="1"/>
          </p:cNvSpPr>
          <p:nvPr/>
        </p:nvSpPr>
        <p:spPr>
          <a:xfrm>
            <a:off x="13811250" y="8124825"/>
            <a:ext cx="1285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3795"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Page   10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EB45539-85FD-4E8D-B18D-147A98B42840}"/>
              </a:ext>
            </a:extLst>
          </p:cNvPr>
          <p:cNvSpPr>
            <a:spLocks noGrp="1"/>
          </p:cNvSpPr>
          <p:nvPr/>
        </p:nvSpPr>
        <p:spPr>
          <a:xfrm>
            <a:off x="628650" y="1000125"/>
            <a:ext cx="85725" cy="695325"/>
          </a:xfrm>
          <a:prstGeom prst="rect">
            <a:avLst/>
          </a:prstGeom>
          <a:solidFill>
            <a:srgbClr val="B600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F2227BE-F19C-46CA-95A5-8A10648C9589}"/>
              </a:ext>
            </a:extLst>
          </p:cNvPr>
          <p:cNvSpPr>
            <a:spLocks noGrp="1"/>
          </p:cNvSpPr>
          <p:nvPr/>
        </p:nvSpPr>
        <p:spPr>
          <a:xfrm>
            <a:off x="857250" y="885825"/>
            <a:ext cx="68580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4482"/>
          </a:bodyPr>
          <a:lstStyle/>
          <a:p>
            <a:pPr algn="l">
              <a:lnSpc>
                <a:spcPct val="105000"/>
              </a:lnSpc>
              <a:buNone/>
              <a:defRPr sz="31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后续研究路线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1452722-8F29-48A0-BE70-4D7EE51CD751}"/>
              </a:ext>
            </a:extLst>
          </p:cNvPr>
          <p:cNvSpPr>
            <a:spLocks noGrp="1"/>
          </p:cNvSpPr>
          <p:nvPr/>
        </p:nvSpPr>
        <p:spPr>
          <a:xfrm>
            <a:off x="876300" y="1381125"/>
            <a:ext cx="78105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rPr>
              <a:t>Follow-on Research Roadmap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4E15662-3440-4EE6-984E-748CC65F55A7}"/>
              </a:ext>
            </a:extLst>
          </p:cNvPr>
          <p:cNvSpPr>
            <a:spLocks noGrp="1"/>
          </p:cNvSpPr>
          <p:nvPr/>
        </p:nvSpPr>
        <p:spPr>
          <a:xfrm>
            <a:off x="1009650" y="2076450"/>
            <a:ext cx="1714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rPr>
              <a:t>阶段 A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27128CB-E4A4-4FF8-8A0C-1D0097DE313B}"/>
              </a:ext>
            </a:extLst>
          </p:cNvPr>
          <p:cNvSpPr>
            <a:spLocks noGrp="1"/>
          </p:cNvSpPr>
          <p:nvPr/>
        </p:nvSpPr>
        <p:spPr>
          <a:xfrm>
            <a:off x="1009650" y="2457450"/>
            <a:ext cx="3048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7286"/>
          </a:bodyPr>
          <a:lstStyle/>
          <a:p>
            <a:pPr algn="l">
              <a:lnSpc>
                <a:spcPct val="105000"/>
              </a:lnSpc>
              <a:buNone/>
              <a:defRPr sz="232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地面平台完善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7CE393A-A156-4884-9AE9-8A568B69C140}"/>
              </a:ext>
            </a:extLst>
          </p:cNvPr>
          <p:cNvSpPr>
            <a:spLocks noGrp="1"/>
          </p:cNvSpPr>
          <p:nvPr/>
        </p:nvSpPr>
        <p:spPr>
          <a:xfrm>
            <a:off x="1009650" y="2905125"/>
            <a:ext cx="34290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Ground-platform refinement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025E57F-A72F-40CB-9FFB-792B5592C3F0}"/>
              </a:ext>
            </a:extLst>
          </p:cNvPr>
          <p:cNvSpPr>
            <a:spLocks noGrp="1"/>
          </p:cNvSpPr>
          <p:nvPr/>
        </p:nvSpPr>
        <p:spPr>
          <a:xfrm>
            <a:off x="1009650" y="3409950"/>
            <a:ext cx="3714750" cy="2076450"/>
          </a:xfrm>
          <a:prstGeom prst="roundRect">
            <a:avLst>
              <a:gd name="adj" fmla="val 7339"/>
            </a:avLst>
          </a:prstGeom>
          <a:solidFill>
            <a:srgbClr val="F8FBFD"/>
          </a:solidFill>
          <a:ln w="9525">
            <a:solidFill>
              <a:srgbClr val="BDD3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98CDFA2E-A7B7-472E-B620-03B4FBDF7CB4}"/>
              </a:ext>
            </a:extLst>
          </p:cNvPr>
          <p:cNvSpPr>
            <a:spLocks noGrp="1"/>
          </p:cNvSpPr>
          <p:nvPr/>
        </p:nvSpPr>
        <p:spPr>
          <a:xfrm>
            <a:off x="1295400" y="3781425"/>
            <a:ext cx="114300" cy="114300"/>
          </a:xfrm>
          <a:prstGeom prst="ellipse">
            <a:avLst/>
          </a:prstGeom>
          <a:solidFill>
            <a:srgbClr val="0078B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82FA283-A667-4ADD-8AFA-AC6E14966064}"/>
              </a:ext>
            </a:extLst>
          </p:cNvPr>
          <p:cNvSpPr>
            <a:spLocks noGrp="1"/>
          </p:cNvSpPr>
          <p:nvPr/>
        </p:nvSpPr>
        <p:spPr>
          <a:xfrm>
            <a:off x="1524000" y="3714750"/>
            <a:ext cx="29146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3214"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扩展视觉或激光定位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474C78F-0CE3-4588-A8E7-D485007D2F6A}"/>
              </a:ext>
            </a:extLst>
          </p:cNvPr>
          <p:cNvSpPr>
            <a:spLocks noGrp="1"/>
          </p:cNvSpPr>
          <p:nvPr/>
        </p:nvSpPr>
        <p:spPr>
          <a:xfrm>
            <a:off x="1524000" y="4010025"/>
            <a:ext cx="29146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Add visual or LiDAR localization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D48CB1E-889A-4DAA-9B69-C58908B66544}"/>
              </a:ext>
            </a:extLst>
          </p:cNvPr>
          <p:cNvSpPr>
            <a:spLocks noGrp="1"/>
          </p:cNvSpPr>
          <p:nvPr/>
        </p:nvSpPr>
        <p:spPr>
          <a:xfrm>
            <a:off x="1295400" y="4591050"/>
            <a:ext cx="114300" cy="114300"/>
          </a:xfrm>
          <a:prstGeom prst="ellipse">
            <a:avLst/>
          </a:prstGeom>
          <a:solidFill>
            <a:srgbClr val="0078B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3D130CF-4573-43C1-BDB1-FD79B84783AF}"/>
              </a:ext>
            </a:extLst>
          </p:cNvPr>
          <p:cNvSpPr>
            <a:spLocks noGrp="1"/>
          </p:cNvSpPr>
          <p:nvPr/>
        </p:nvSpPr>
        <p:spPr>
          <a:xfrm>
            <a:off x="1524000" y="4524375"/>
            <a:ext cx="29146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3214"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研究遮挡与通信中断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ED14F1B-6EDA-450C-A1A3-4169A676AFB3}"/>
              </a:ext>
            </a:extLst>
          </p:cNvPr>
          <p:cNvSpPr>
            <a:spLocks noGrp="1"/>
          </p:cNvSpPr>
          <p:nvPr/>
        </p:nvSpPr>
        <p:spPr>
          <a:xfrm>
            <a:off x="1524000" y="4819650"/>
            <a:ext cx="29146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85036"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Study occlusion and communication loss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A50876D-7C15-4A4D-BEF9-AF454C0A7202}"/>
              </a:ext>
            </a:extLst>
          </p:cNvPr>
          <p:cNvSpPr>
            <a:spLocks noGrp="1"/>
          </p:cNvSpPr>
          <p:nvPr/>
        </p:nvSpPr>
        <p:spPr>
          <a:xfrm>
            <a:off x="5772150" y="2076450"/>
            <a:ext cx="1714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rPr>
              <a:t>阶段 B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284AC31-0258-4ADB-9B35-A621DD8DBA3E}"/>
              </a:ext>
            </a:extLst>
          </p:cNvPr>
          <p:cNvSpPr>
            <a:spLocks noGrp="1"/>
          </p:cNvSpPr>
          <p:nvPr/>
        </p:nvSpPr>
        <p:spPr>
          <a:xfrm>
            <a:off x="5772150" y="2457450"/>
            <a:ext cx="3238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7286"/>
          </a:bodyPr>
          <a:lstStyle/>
          <a:p>
            <a:pPr algn="l">
              <a:lnSpc>
                <a:spcPct val="105000"/>
              </a:lnSpc>
              <a:buNone/>
              <a:defRPr sz="232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Unreal 月面迁移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5570ED2-72A3-4849-9E94-BE38C22A79CB}"/>
              </a:ext>
            </a:extLst>
          </p:cNvPr>
          <p:cNvSpPr>
            <a:spLocks noGrp="1"/>
          </p:cNvSpPr>
          <p:nvPr/>
        </p:nvSpPr>
        <p:spPr>
          <a:xfrm>
            <a:off x="5772150" y="2905125"/>
            <a:ext cx="38100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Migration to a lunar Unreal scene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43A41371-2B9C-4884-AC42-5BA54E460438}"/>
              </a:ext>
            </a:extLst>
          </p:cNvPr>
          <p:cNvSpPr>
            <a:spLocks noGrp="1"/>
          </p:cNvSpPr>
          <p:nvPr/>
        </p:nvSpPr>
        <p:spPr>
          <a:xfrm>
            <a:off x="5772150" y="3409950"/>
            <a:ext cx="3714750" cy="2076450"/>
          </a:xfrm>
          <a:prstGeom prst="roundRect">
            <a:avLst>
              <a:gd name="adj" fmla="val 7339"/>
            </a:avLst>
          </a:prstGeom>
          <a:solidFill>
            <a:srgbClr val="EFF6FA"/>
          </a:solidFill>
          <a:ln w="9525">
            <a:solidFill>
              <a:srgbClr val="0078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58353126-CC7A-4CB2-95CC-DD1FF045DB41}"/>
              </a:ext>
            </a:extLst>
          </p:cNvPr>
          <p:cNvSpPr>
            <a:spLocks noGrp="1"/>
          </p:cNvSpPr>
          <p:nvPr/>
        </p:nvSpPr>
        <p:spPr>
          <a:xfrm>
            <a:off x="6057900" y="3781425"/>
            <a:ext cx="114300" cy="114300"/>
          </a:xfrm>
          <a:prstGeom prst="ellipse">
            <a:avLst/>
          </a:prstGeom>
          <a:solidFill>
            <a:srgbClr val="0078B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EA9CDB8-2453-45E5-928C-3DE34CDD7B4D}"/>
              </a:ext>
            </a:extLst>
          </p:cNvPr>
          <p:cNvSpPr>
            <a:spLocks noGrp="1"/>
          </p:cNvSpPr>
          <p:nvPr/>
        </p:nvSpPr>
        <p:spPr>
          <a:xfrm>
            <a:off x="6286500" y="3714750"/>
            <a:ext cx="29146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3214"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复现传感器接口和时间戳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F19857E-86BA-4472-A2E3-E4BF2B82C609}"/>
              </a:ext>
            </a:extLst>
          </p:cNvPr>
          <p:cNvSpPr>
            <a:spLocks noGrp="1"/>
          </p:cNvSpPr>
          <p:nvPr/>
        </p:nvSpPr>
        <p:spPr>
          <a:xfrm>
            <a:off x="6286500" y="4010025"/>
            <a:ext cx="29146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0931"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Replicate sensor interfaces and timing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C6A318EB-79BD-40A5-AAF1-4353251747E9}"/>
              </a:ext>
            </a:extLst>
          </p:cNvPr>
          <p:cNvSpPr>
            <a:spLocks noGrp="1"/>
          </p:cNvSpPr>
          <p:nvPr/>
        </p:nvSpPr>
        <p:spPr>
          <a:xfrm>
            <a:off x="6057900" y="4591050"/>
            <a:ext cx="114300" cy="114300"/>
          </a:xfrm>
          <a:prstGeom prst="ellipse">
            <a:avLst/>
          </a:prstGeom>
          <a:solidFill>
            <a:srgbClr val="0078B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AE972F9-70DE-4B49-AC36-18CE83C3E7B8}"/>
              </a:ext>
            </a:extLst>
          </p:cNvPr>
          <p:cNvSpPr>
            <a:spLocks noGrp="1"/>
          </p:cNvSpPr>
          <p:nvPr/>
        </p:nvSpPr>
        <p:spPr>
          <a:xfrm>
            <a:off x="6286500" y="4524375"/>
            <a:ext cx="29146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3214"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加入光照、地形和打滑退化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109172C-E530-4898-9E94-8F0ABE9DA36D}"/>
              </a:ext>
            </a:extLst>
          </p:cNvPr>
          <p:cNvSpPr>
            <a:spLocks noGrp="1"/>
          </p:cNvSpPr>
          <p:nvPr/>
        </p:nvSpPr>
        <p:spPr>
          <a:xfrm>
            <a:off x="6286500" y="4819650"/>
            <a:ext cx="29146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0847" lnSpcReduction="20000"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Add lighting, terrain and slip degradation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88B3B99-1E15-47DF-98EF-FCDF94924F9F}"/>
              </a:ext>
            </a:extLst>
          </p:cNvPr>
          <p:cNvSpPr>
            <a:spLocks noGrp="1"/>
          </p:cNvSpPr>
          <p:nvPr/>
        </p:nvSpPr>
        <p:spPr>
          <a:xfrm>
            <a:off x="10534650" y="2076450"/>
            <a:ext cx="1714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rPr>
              <a:t>阶段 C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007BA85-A261-4AEA-9F50-B05E7303067A}"/>
              </a:ext>
            </a:extLst>
          </p:cNvPr>
          <p:cNvSpPr>
            <a:spLocks noGrp="1"/>
          </p:cNvSpPr>
          <p:nvPr/>
        </p:nvSpPr>
        <p:spPr>
          <a:xfrm>
            <a:off x="10534650" y="2457450"/>
            <a:ext cx="3238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7286"/>
          </a:bodyPr>
          <a:lstStyle/>
          <a:p>
            <a:pPr algn="l">
              <a:lnSpc>
                <a:spcPct val="105000"/>
              </a:lnSpc>
              <a:buNone/>
              <a:defRPr sz="232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月球 PNT 研究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A9AC523-17E3-4397-95ED-197956CE2F56}"/>
              </a:ext>
            </a:extLst>
          </p:cNvPr>
          <p:cNvSpPr>
            <a:spLocks noGrp="1"/>
          </p:cNvSpPr>
          <p:nvPr/>
        </p:nvSpPr>
        <p:spPr>
          <a:xfrm>
            <a:off x="10534650" y="2905125"/>
            <a:ext cx="34290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Lunar PNT research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8DB95A9C-15F7-41AF-8F09-8EB790FB089D}"/>
              </a:ext>
            </a:extLst>
          </p:cNvPr>
          <p:cNvSpPr>
            <a:spLocks noGrp="1"/>
          </p:cNvSpPr>
          <p:nvPr/>
        </p:nvSpPr>
        <p:spPr>
          <a:xfrm>
            <a:off x="10515602" y="3340554"/>
            <a:ext cx="3714750" cy="2076450"/>
          </a:xfrm>
          <a:prstGeom prst="roundRect">
            <a:avLst>
              <a:gd name="adj" fmla="val 7339"/>
            </a:avLst>
          </a:prstGeom>
          <a:solidFill>
            <a:srgbClr val="FCEFF3"/>
          </a:solidFill>
          <a:ln w="9525">
            <a:solidFill>
              <a:srgbClr val="B600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A42E52DB-FA28-45A1-8930-6697EA8793CB}"/>
              </a:ext>
            </a:extLst>
          </p:cNvPr>
          <p:cNvSpPr>
            <a:spLocks noGrp="1"/>
          </p:cNvSpPr>
          <p:nvPr/>
        </p:nvSpPr>
        <p:spPr>
          <a:xfrm>
            <a:off x="10820400" y="3781425"/>
            <a:ext cx="114300" cy="114300"/>
          </a:xfrm>
          <a:prstGeom prst="ellipse">
            <a:avLst/>
          </a:prstGeom>
          <a:solidFill>
            <a:srgbClr val="B600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C93961C-2C2E-4B03-9B7A-AD533F2787FD}"/>
              </a:ext>
            </a:extLst>
          </p:cNvPr>
          <p:cNvSpPr>
            <a:spLocks noGrp="1"/>
          </p:cNvSpPr>
          <p:nvPr/>
        </p:nvSpPr>
        <p:spPr>
          <a:xfrm>
            <a:off x="11049000" y="3714750"/>
            <a:ext cx="29146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3214"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接入稀疏月球卫星测距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CC9DCAF-8FFE-4807-A9D0-257A7276B77B}"/>
              </a:ext>
            </a:extLst>
          </p:cNvPr>
          <p:cNvSpPr>
            <a:spLocks noGrp="1"/>
          </p:cNvSpPr>
          <p:nvPr/>
        </p:nvSpPr>
        <p:spPr>
          <a:xfrm>
            <a:off x="11049000" y="4010025"/>
            <a:ext cx="29146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81447" lnSpcReduction="10000"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Introduce sparse lunar satellite ranging</a:t>
            </a: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DC9AE299-E3FB-4A28-A380-24BD247A0204}"/>
              </a:ext>
            </a:extLst>
          </p:cNvPr>
          <p:cNvSpPr>
            <a:spLocks noGrp="1"/>
          </p:cNvSpPr>
          <p:nvPr/>
        </p:nvSpPr>
        <p:spPr>
          <a:xfrm>
            <a:off x="10820400" y="4591050"/>
            <a:ext cx="114300" cy="114300"/>
          </a:xfrm>
          <a:prstGeom prst="ellipse">
            <a:avLst/>
          </a:prstGeom>
          <a:solidFill>
            <a:srgbClr val="B600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4D9D87D-D8AB-4395-B56C-75CA02CAFEAC}"/>
              </a:ext>
            </a:extLst>
          </p:cNvPr>
          <p:cNvSpPr>
            <a:spLocks noGrp="1"/>
          </p:cNvSpPr>
          <p:nvPr/>
        </p:nvSpPr>
        <p:spPr>
          <a:xfrm>
            <a:off x="11049000" y="4524375"/>
            <a:ext cx="29146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0138" lnSpcReduction="20000"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dirty="0" err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比较</a:t>
            </a:r>
            <a:r>
              <a:rPr sz="1875" b="1" dirty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 DEM、视觉和 PNT </a:t>
            </a:r>
            <a:r>
              <a:rPr sz="1875" b="1" dirty="0" err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互补性</a:t>
            </a:r>
            <a:endParaRPr sz="1875" b="1" dirty="0">
              <a:solidFill>
                <a:srgbClr val="26374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5671929-343C-4EF1-83FC-EA12FB5851BA}"/>
              </a:ext>
            </a:extLst>
          </p:cNvPr>
          <p:cNvSpPr>
            <a:spLocks noGrp="1"/>
          </p:cNvSpPr>
          <p:nvPr/>
        </p:nvSpPr>
        <p:spPr>
          <a:xfrm>
            <a:off x="11049000" y="4819650"/>
            <a:ext cx="29146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25000" lnSpcReduction="20000"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endParaRPr lang="en-US" sz="1350" b="0" dirty="0">
              <a:solidFill>
                <a:srgbClr val="667684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endParaRPr lang="en-US" sz="1350" b="0" dirty="0">
              <a:solidFill>
                <a:srgbClr val="667684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400" b="0" dirty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Compare DEM, vision and PNT constraints</a:t>
            </a:r>
          </a:p>
        </p:txBody>
      </p:sp>
      <p:sp>
        <p:nvSpPr>
          <p:cNvPr id="37" name="直接连接符 36">
            <a:extLst>
              <a:ext uri="{FF2B5EF4-FFF2-40B4-BE49-F238E27FC236}">
                <a16:creationId xmlns:a16="http://schemas.microsoft.com/office/drawing/2014/main" id="{57AD459E-0F1F-4F4F-B9F2-23CD093E5B0B}"/>
              </a:ext>
            </a:extLst>
          </p:cNvPr>
          <p:cNvSpPr>
            <a:spLocks noGrp="1"/>
          </p:cNvSpPr>
          <p:nvPr/>
        </p:nvSpPr>
        <p:spPr>
          <a:xfrm>
            <a:off x="4743450" y="4476750"/>
            <a:ext cx="1000125" cy="19050"/>
          </a:xfrm>
          <a:prstGeom prst="line">
            <a:avLst/>
          </a:prstGeom>
          <a:noFill/>
          <a:ln w="38100">
            <a:solidFill>
              <a:srgbClr val="0078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直接连接符 37">
            <a:extLst>
              <a:ext uri="{FF2B5EF4-FFF2-40B4-BE49-F238E27FC236}">
                <a16:creationId xmlns:a16="http://schemas.microsoft.com/office/drawing/2014/main" id="{198A6842-EC67-4B22-BC18-B1A787D32A0A}"/>
              </a:ext>
            </a:extLst>
          </p:cNvPr>
          <p:cNvSpPr>
            <a:spLocks noGrp="1"/>
          </p:cNvSpPr>
          <p:nvPr/>
        </p:nvSpPr>
        <p:spPr>
          <a:xfrm>
            <a:off x="9505950" y="4476750"/>
            <a:ext cx="1000125" cy="19050"/>
          </a:xfrm>
          <a:prstGeom prst="line">
            <a:avLst/>
          </a:prstGeom>
          <a:noFill/>
          <a:ln w="38100">
            <a:solidFill>
              <a:srgbClr val="B600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3A3F1F42-B397-4A4A-A2FC-0DC371E985A9}"/>
              </a:ext>
            </a:extLst>
          </p:cNvPr>
          <p:cNvSpPr>
            <a:spLocks noGrp="1"/>
          </p:cNvSpPr>
          <p:nvPr/>
        </p:nvSpPr>
        <p:spPr>
          <a:xfrm>
            <a:off x="2362200" y="6048375"/>
            <a:ext cx="10515600" cy="876300"/>
          </a:xfrm>
          <a:prstGeom prst="roundRect">
            <a:avLst>
              <a:gd name="adj" fmla="val 17391"/>
            </a:avLst>
          </a:prstGeom>
          <a:solidFill>
            <a:srgbClr val="123F6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626E563-EA71-4C1B-B045-8D43FD7F43D9}"/>
              </a:ext>
            </a:extLst>
          </p:cNvPr>
          <p:cNvSpPr>
            <a:spLocks noGrp="1"/>
          </p:cNvSpPr>
          <p:nvPr/>
        </p:nvSpPr>
        <p:spPr>
          <a:xfrm>
            <a:off x="2647950" y="6172200"/>
            <a:ext cx="9944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 fontScale="99206"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后续选题依据：本月实验揭示的误差模式、不可观条件和传感器互补关系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16D6727-DC92-4FB0-8A4E-2AEFDB135466}"/>
              </a:ext>
            </a:extLst>
          </p:cNvPr>
          <p:cNvSpPr>
            <a:spLocks noGrp="1"/>
          </p:cNvSpPr>
          <p:nvPr/>
        </p:nvSpPr>
        <p:spPr>
          <a:xfrm>
            <a:off x="2647950" y="6524625"/>
            <a:ext cx="99441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49A8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9A8CF"/>
                </a:solidFill>
                <a:latin typeface="Microsoft YaHei"/>
                <a:ea typeface="Microsoft YaHei"/>
                <a:cs typeface="Microsoft YaHei"/>
              </a:rPr>
              <a:t>Topic selection will follow measured failure modes, observability and sensor complementarity</a:t>
            </a:r>
          </a:p>
        </p:txBody>
      </p:sp>
    </p:spTree>
    <p:extLst>
      <p:ext uri="{BB962C8B-B14F-4D97-AF65-F5344CB8AC3E}">
        <p14:creationId xmlns:p14="http://schemas.microsoft.com/office/powerpoint/2010/main" val="160033515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1096</Words>
  <Application>Microsoft Office PowerPoint</Application>
  <DocSecurity>0</DocSecurity>
  <PresentationFormat>自定义</PresentationFormat>
  <Paragraphs>278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TANG, yiyucandy [Student]</cp:lastModifiedBy>
  <cp:revision>1</cp:revision>
  <dcterms:created xsi:type="dcterms:W3CDTF">2026-09-14T12:05:20Z</dcterms:created>
  <dcterms:modified xsi:type="dcterms:W3CDTF">2026-09-15T12:54:21Z</dcterms:modified>
</cp:coreProperties>
</file>