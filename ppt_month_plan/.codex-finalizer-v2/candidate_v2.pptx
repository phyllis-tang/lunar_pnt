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a4846e111043d3" /><Relationship Type="http://schemas.openxmlformats.org/officeDocument/2006/relationships/extended-properties" Target="/docProps/app.xml" Id="R29b3642f023e448e" /><Relationship Type="http://schemas.openxmlformats.org/officeDocument/2006/relationships/officeDocument" Target="/ppt/presentation.xml" Id="Rb94b68bdb2d04d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6fcc9395af4e2d"/>
  </p:sldMasterIdLst>
  <p:notesMasterIdLst>
    <p:notesMasterId xmlns:r="http://schemas.openxmlformats.org/officeDocument/2006/relationships" r:id="Rf0d936bab7414ba1"/>
  </p:notesMasterIdLst>
  <p:sldIdLst>
    <p:sldId xmlns:r="http://schemas.openxmlformats.org/officeDocument/2006/relationships" id="256" r:id="Rae7e18b08a3c4593"/>
    <p:sldId xmlns:r="http://schemas.openxmlformats.org/officeDocument/2006/relationships" id="257" r:id="Rd8fc5b3b48394245"/>
    <p:sldId xmlns:r="http://schemas.openxmlformats.org/officeDocument/2006/relationships" id="258" r:id="R52f0654b01f34f23"/>
    <p:sldId xmlns:r="http://schemas.openxmlformats.org/officeDocument/2006/relationships" id="259" r:id="Rde5c791e51d04935"/>
    <p:sldId xmlns:r="http://schemas.openxmlformats.org/officeDocument/2006/relationships" id="260" r:id="R178cbadb89924e04"/>
    <p:sldId xmlns:r="http://schemas.openxmlformats.org/officeDocument/2006/relationships" id="261" r:id="Raee428c349334040"/>
    <p:sldId xmlns:r="http://schemas.openxmlformats.org/officeDocument/2006/relationships" id="262" r:id="R256453c3a4b54859"/>
    <p:sldId xmlns:r="http://schemas.openxmlformats.org/officeDocument/2006/relationships" id="263" r:id="Rc608fe19e49a4fb4"/>
    <p:sldId xmlns:r="http://schemas.openxmlformats.org/officeDocument/2006/relationships" id="264" r:id="Rd981a0ba4a204e42"/>
    <p:sldId xmlns:r="http://schemas.openxmlformats.org/officeDocument/2006/relationships" id="265" r:id="R6e019c176e654f7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0807973d1c43dc" /><Relationship Type="http://schemas.openxmlformats.org/officeDocument/2006/relationships/slideMaster" Target="/ppt/slideMasters/slideMaster1.xml" Id="Rb96fcc9395af4e2d" /><Relationship Type="http://schemas.openxmlformats.org/officeDocument/2006/relationships/notesMaster" Target="/ppt/notesMasters/notesMaster1.xml" Id="Rf0d936bab7414ba1" /><Relationship Type="http://schemas.openxmlformats.org/officeDocument/2006/relationships/presProps" Target="/ppt/presProps.xml" Id="R8cded364ae6742d4" /><Relationship Type="http://schemas.openxmlformats.org/officeDocument/2006/relationships/tableStyles" Target="/ppt/tableStyles.xml" Id="R3de563834a964f5d" /><Relationship Type="http://schemas.openxmlformats.org/officeDocument/2006/relationships/slide" Target="/ppt/slides/slide1.xml" Id="Rae7e18b08a3c4593" /><Relationship Type="http://schemas.openxmlformats.org/officeDocument/2006/relationships/slide" Target="/ppt/slides/slide2.xml" Id="Rd8fc5b3b48394245" /><Relationship Type="http://schemas.openxmlformats.org/officeDocument/2006/relationships/slide" Target="/ppt/slides/slide3.xml" Id="R52f0654b01f34f23" /><Relationship Type="http://schemas.openxmlformats.org/officeDocument/2006/relationships/slide" Target="/ppt/slides/slide4.xml" Id="Rde5c791e51d04935" /><Relationship Type="http://schemas.openxmlformats.org/officeDocument/2006/relationships/slide" Target="/ppt/slides/slide5.xml" Id="R178cbadb89924e04" /><Relationship Type="http://schemas.openxmlformats.org/officeDocument/2006/relationships/slide" Target="/ppt/slides/slide6.xml" Id="Raee428c349334040" /><Relationship Type="http://schemas.openxmlformats.org/officeDocument/2006/relationships/slide" Target="/ppt/slides/slide7.xml" Id="R256453c3a4b54859" /><Relationship Type="http://schemas.openxmlformats.org/officeDocument/2006/relationships/slide" Target="/ppt/slides/slide8.xml" Id="Rc608fe19e49a4fb4" /><Relationship Type="http://schemas.openxmlformats.org/officeDocument/2006/relationships/slide" Target="/ppt/slides/slide9.xml" Id="Rd981a0ba4a204e42" /><Relationship Type="http://schemas.openxmlformats.org/officeDocument/2006/relationships/slide" Target="/ppt/slides/slide10.xml" Id="R6e019c176e654f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ca931e61f646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b6cbe475dc42d2" /><Relationship Type="http://schemas.openxmlformats.org/officeDocument/2006/relationships/notesMaster" Target="/ppt/notesMasters/notesMaster1.xml" Id="R78d47fc588694d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58de268fce46a0" /><Relationship Type="http://schemas.openxmlformats.org/officeDocument/2006/relationships/notesMaster" Target="/ppt/notesMasters/notesMaster1.xml" Id="Rb56935a844de47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d88bc140a14113" /><Relationship Type="http://schemas.openxmlformats.org/officeDocument/2006/relationships/notesMaster" Target="/ppt/notesMasters/notesMaster1.xml" Id="R543f7fed88a644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7ddb21d7e94eb6" /><Relationship Type="http://schemas.openxmlformats.org/officeDocument/2006/relationships/notesMaster" Target="/ppt/notesMasters/notesMaster1.xml" Id="R9c5bb816c94d49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8887c840ea495a" /><Relationship Type="http://schemas.openxmlformats.org/officeDocument/2006/relationships/notesMaster" Target="/ppt/notesMasters/notesMaster1.xml" Id="R6f09d92bd20e48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e17f2191024fbc" /><Relationship Type="http://schemas.openxmlformats.org/officeDocument/2006/relationships/notesMaster" Target="/ppt/notesMasters/notesMaster1.xml" Id="R54c9b11567bf46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4b074e570b4985" /><Relationship Type="http://schemas.openxmlformats.org/officeDocument/2006/relationships/notesMaster" Target="/ppt/notesMasters/notesMaster1.xml" Id="R9d81af0900f444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0e16f8f6104ee7" /><Relationship Type="http://schemas.openxmlformats.org/officeDocument/2006/relationships/notesMaster" Target="/ppt/notesMasters/notesMaster1.xml" Id="R8534cdc82ab44a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99d61e05ad46a1" /><Relationship Type="http://schemas.openxmlformats.org/officeDocument/2006/relationships/notesMaster" Target="/ppt/notesMasters/notesMaster1.xml" Id="R2be6c87f1efe43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f3e7c459cf4e00" /><Relationship Type="http://schemas.openxmlformats.org/officeDocument/2006/relationships/notesMaster" Target="/ppt/notesMasters/notesMaster1.xml" Id="R8cce523029fa47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本页说明汇报主题。本月重点是两辆实体小车的地面验证，不把本月目标描述为已经完成月球导航系统。Template background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左侧来自用户此前的 ROS Car 学习成果。右侧是本月可验证的目标，准确率改善仍需实验数据支持，因此不预设性能提升结论。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推荐架构：硬件驱动在各自车载计算机运行，虚拟机承担 ROS Master、显示、记录和协同融合。车间 UWB 连接表示距离观测，不表示已经获得绝对位置。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第一周不安装 UWB。先排除底盘、雷达、串口和网络问题。虚拟机应使用桥接网络，避免 NAT 导致小车无法回连。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第二周得到的是双车独立定位基线，还不称为协同定位。共享 map，但每辆车保留独立 odom 和 base_link 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第三周先把 UWB 当作独立传感器，不直接并入定位。标定覆盖 LOS、人体遮挡、车体遮挡、静止和运动情况。黄色说明用于避免过度解释单条距离约束。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第四周先用 rosbag 离线实现。方法优先选择集中式 EKF 或小型因子图，避免本月同时引入分布式通信和复杂优化。观测模型表达的是车间距离。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本页定义月底实验矩阵。ATE 和 RPE 只有在获得可靠参考轨迹时才报告；没有真值时应清楚区分内部一致性与绝对精度。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月底成果强调可运行、可测量和可复现，不预先承诺达到某个厘米级精度。四类交付物分别覆盖代码、数据、演示和边界。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后续先完善地面平台，再迁移到 Unreal 月面环境，最后接入稀疏月球卫星测距并讨论 DEM、视觉和 PNT 的互补性。最终论文题目由实际失败模式和实验结果决定。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40948584c44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454b08b84a4f86" /><Relationship Type="http://schemas.openxmlformats.org/officeDocument/2006/relationships/slideLayout" Target="/ppt/slideLayouts/slideLayout1.xml" Id="R9797dc95cb454e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97dc95cb454e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be59338e04dfe" /><Relationship Type="http://schemas.openxmlformats.org/officeDocument/2006/relationships/image" Target="/ppt/media/image.png" Id="R8d3a48c74e474df3" /><Relationship Type="http://schemas.openxmlformats.org/officeDocument/2006/relationships/notesSlide" Target="/ppt/notesSlides/notesSlide1.xml" Id="R033008def15045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5afce62c0426b" /><Relationship Type="http://schemas.openxmlformats.org/officeDocument/2006/relationships/image" Target="/ppt/media/image2.png" Id="R6cbeb01d9be1428d" /><Relationship Type="http://schemas.openxmlformats.org/officeDocument/2006/relationships/notesSlide" Target="/ppt/notesSlides/notesSlide2.xml" Id="Rdd680224800244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2f91ec2394c09" /><Relationship Type="http://schemas.openxmlformats.org/officeDocument/2006/relationships/image" Target="/ppt/media/image3.png" Id="R281d793de33d4713" /><Relationship Type="http://schemas.openxmlformats.org/officeDocument/2006/relationships/notesSlide" Target="/ppt/notesSlides/notesSlide3.xml" Id="Re3240e0cd2b146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dd130435140b9" /><Relationship Type="http://schemas.openxmlformats.org/officeDocument/2006/relationships/image" Target="/ppt/media/image4.png" Id="R5db50c7d4e5e40e9" /><Relationship Type="http://schemas.openxmlformats.org/officeDocument/2006/relationships/notesSlide" Target="/ppt/notesSlides/notesSlide4.xml" Id="R46d965ea328341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955896b7a4412" /><Relationship Type="http://schemas.openxmlformats.org/officeDocument/2006/relationships/image" Target="/ppt/media/image5.png" Id="Raf5fa13a83f64e6d" /><Relationship Type="http://schemas.openxmlformats.org/officeDocument/2006/relationships/notesSlide" Target="/ppt/notesSlides/notesSlide5.xml" Id="Rf316c4d4a2e549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feb9b519d4b6a" /><Relationship Type="http://schemas.openxmlformats.org/officeDocument/2006/relationships/image" Target="/ppt/media/image6.png" Id="R47d43d2bcc7d45d8" /><Relationship Type="http://schemas.openxmlformats.org/officeDocument/2006/relationships/notesSlide" Target="/ppt/notesSlides/notesSlide6.xml" Id="R5efc45df32294a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5a598623f4d70" /><Relationship Type="http://schemas.openxmlformats.org/officeDocument/2006/relationships/image" Target="/ppt/media/image7.png" Id="R43f39ffb9fa44766" /><Relationship Type="http://schemas.openxmlformats.org/officeDocument/2006/relationships/notesSlide" Target="/ppt/notesSlides/notesSlide7.xml" Id="R17805b548b2f40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777a848e746ea" /><Relationship Type="http://schemas.openxmlformats.org/officeDocument/2006/relationships/image" Target="/ppt/media/image8.png" Id="Rdbb772b042c74e17" /><Relationship Type="http://schemas.openxmlformats.org/officeDocument/2006/relationships/notesSlide" Target="/ppt/notesSlides/notesSlide8.xml" Id="R9669b0bd716541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3b1f02b4d47cc" /><Relationship Type="http://schemas.openxmlformats.org/officeDocument/2006/relationships/image" Target="/ppt/media/image9.png" Id="R0e3bb0fb7bb149a8" /><Relationship Type="http://schemas.openxmlformats.org/officeDocument/2006/relationships/notesSlide" Target="/ppt/notesSlides/notesSlide9.xml" Id="Re56173a6466941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20e2c07cb4b28" /><Relationship Type="http://schemas.openxmlformats.org/officeDocument/2006/relationships/image" Target="/ppt/media/image10.png" Id="R9f67a3ad5f944d41" /><Relationship Type="http://schemas.openxmlformats.org/officeDocument/2006/relationships/notesSlide" Target="/ppt/notesSlides/notesSlide10.xml" Id="Ra3c7e9fa13524f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a48c74e474d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C1C1E-4B59-43FF-9F6A-1F386BDE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7E040-49B1-404F-860A-EF3B82B3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2BDF6-5806-49C2-9F14-1230FCC0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1143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3560E-08EE-4C3D-A2F2-99F74EF0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1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深圳研究院月度研究计划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B4FC3-C7F2-466F-B00D-0EF4D988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90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Monthly Research Plan at the Shenzhen Research Institute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5BB84-F13F-4409-99D9-6FE08666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双车协同定位与 UWB 地面验证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B504B-B2E8-48FF-9A19-E2DDE66A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291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Dual-Robot Cooperative Localization and UWB Ground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1B7E6-39D4-471C-BBDE-2FF365C4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62575"/>
            <a:ext cx="68580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DD3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D927E-0D3F-4703-86A1-7F549B65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007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2026年9月  ·  ROS1 Melodic  ·  WHEELTEC ROS Car</a:t>
            </a:r>
          </a:p>
        </p:txBody>
      </p:sp>
    </p:spTree>
    <p:extLst>
      <p:ext uri="{BB962C8B-B14F-4D97-AF65-F5344CB8AC3E}">
        <p14:creationId xmlns:p14="http://schemas.microsoft.com/office/powerpoint/2010/main" val="20713523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eb01d9be142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1A2BB-927F-49AD-B200-645B8622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26C45-8419-4181-A020-249A17FA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9DB60-F29A-4B1A-A807-F3A81D90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857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F96EE-C3B7-425C-9F2B-F225F239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当前基础与本月目标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BE86C-1F7B-40F6-9726-7D4619B2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Current Baseline and Monthly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1DE5A-E48D-4FCC-9D10-971E1890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6191250" cy="4333875"/>
          </a:xfrm>
          <a:prstGeom xmlns:a="http://schemas.openxmlformats.org/drawingml/2006/main" prst="roundRect">
            <a:avLst>
              <a:gd name="adj" fmla="val 3516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DD3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93AAB-737C-4FDB-96DE-0CC0D606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6934200" cy="4333875"/>
          </a:xfrm>
          <a:prstGeom xmlns:a="http://schemas.openxmlformats.org/drawingml/2006/main" prst="roundRect">
            <a:avLst>
              <a:gd name="adj" fmla="val 3516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11430">
            <a:solidFill>
              <a:srgbClr val="49A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BEA00-00E3-454B-9B57-479698B9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已有基础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FB69A-A366-4D81-93E9-2CEE78EA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CURRENT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1FD7A-8DCF-403D-B9F8-1BC5BCE8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43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E73D3-F1BE-43B4-9AB9-98813BC2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76550"/>
            <a:ext cx="5010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单车底盘、SSH 与话题排查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7112F-14D5-4684-9512-03F39EF6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71825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Chassis bring-up, SSH and ROS topic diagnostics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CE657-6572-41B4-A287-224BF6AA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72F75-6DE5-4505-ABB6-096F95FC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48075"/>
            <a:ext cx="5010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激光雷达跟随与二维建图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CDFFA-CBCB-48D2-8331-B18C40A9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433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LiDAR following and 2D mapping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8042C-8EDF-472E-94C6-B0EF18A0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1FFE91-5448-4DEE-B364-D2B34292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19600"/>
            <a:ext cx="5010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AMCL 单点及多点导航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A1469-059D-435E-B1A8-D32BEEAC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14875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AMCL localization and waypoint navigation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81F87-2681-486C-839D-52FF8709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E5B6BD-E13F-4C33-8C81-C480237F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91125"/>
            <a:ext cx="5010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串口、TF 与导航故障排查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349792-2206-4BDE-8561-77F51036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8640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Serial, TF and navigation troubleshooting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92AA4-E8DC-4392-9564-571367E8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479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月底目标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DE1106-53FA-4FD6-8ADA-A3FFEA90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2410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MONTH-END TARGET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F1601C-4690-4AE3-8A2C-ABE120CC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43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FBA465-F787-4F57-B094-ED7323B9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548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两辆车同时上线且互不干扰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1690CD-415F-4F8B-B930-0FB6033E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71825"/>
            <a:ext cx="548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Two robots online with isolated control and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42B00E-ED3C-4965-89E9-A302BB6F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3528A5-9A50-4076-A811-7E82AE34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48075"/>
            <a:ext cx="548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UWB 测距完成标定和质量分析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A9B232-D139-41D1-966E-67D5B579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548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Calibrated UWB ranging with quality statistics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D9B20F-E599-44D6-85FD-A5B0764F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3D10A8-F10A-40D3-B9DF-CCDB6F9C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19600"/>
            <a:ext cx="548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建立独立定位基线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B83EB8-EDDC-4526-8E0A-B55D2C89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548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Independent localization baseline for both robots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846C50-AC38-4E23-AAEC-71BF941F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57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25CC15-373D-4740-96F7-7E40ED03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548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完成首个协同定位演示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D02437-EF58-4CD7-A921-F57C08FB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86400"/>
            <a:ext cx="548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First cooperative-localization demonstration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C37C46-3D08-4174-BB18-7CB03A26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24700"/>
            <a:ext cx="1371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2C16E3-581D-4355-A2EC-5365DB62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0090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范围控制：本月先完成地面系统闭环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76F450-0904-40A2-A801-2D5A6E28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219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Scope: complete the ground-system loop this month</a:t>
            </a:r>
          </a:p>
        </p:txBody>
      </p:sp>
    </p:spTree>
    <p:extLst>
      <p:ext uri="{BB962C8B-B14F-4D97-AF65-F5344CB8AC3E}">
        <p14:creationId xmlns:p14="http://schemas.microsoft.com/office/powerpoint/2010/main" val="1946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d793de33d47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4A9B4-BF67-49BD-89A5-2435B8D2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C8AF0-FF9F-408C-B45F-0323998D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A8A9C-1C4B-4FEF-A6C2-5324EE21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857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7049F-051B-467A-A10B-FBA58D58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月底系统形态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5B77E-3A87-4254-B878-B778C66F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Target System Architecture at Month 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50398-7095-4FC1-98A1-B36DF0C0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33600"/>
            <a:ext cx="4572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02071-76DE-405A-935A-43A0B16B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24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虚拟机 / 中心端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008F4-CEEA-4959-9623-B52CB3D0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336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ROS Master · RViz · rosbag · Fusion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D6FCE-6DF5-43F0-A47E-1FCECB52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4286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19050">
            <a:solidFill>
              <a:srgbClr val="0078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54712-0C72-48B9-BE09-E5E6AE80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1487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CAR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8D0B9-2F91-4ECB-9920-20090895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72075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底盘 · 编码器里程计 · IMU · LiDAR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88E55-5F12-418E-BEA2-5624F62F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4355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Chassis · wheel odometry · IMU · LiDAR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358F81-C39F-4445-9838-9EEC3955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24375"/>
            <a:ext cx="4286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19050">
            <a:solidFill>
              <a:srgbClr val="0078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F0F36-504E-4BFB-9BA3-015FD951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1487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CAR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A84B4-7DA7-4782-91C0-BB9CE0FC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72075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底盘 · 编码器里程计 · IMU · LiDAR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F526E-B4A3-4A08-9955-FC14D351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4355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Chassis · wheel odometry · IMU · LiDAR</a:t>
            </a:r>
          </a:p>
        </p:txBody>
      </p:sp>
      <p:cxnSp>
        <p:nvCxnSpPr>
          <p:cNvPr id="41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3571875" y="3276600"/>
            <a:ext cx="4048125" cy="1247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0078B5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620000" y="3276600"/>
            <a:ext cx="4048125" cy="1247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0078B5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715000" y="5334000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60032"/>
            </a:solidFill>
            <a:prstDash val="dash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274FFF-800B-4642-80CC-3C852E12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933950"/>
            <a:ext cx="376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UWB 车间距离 / Inter-robot range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9320D4-869E-4D5B-AE31-EEC78F67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6362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共享 map；两套独立 odom 与 TF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BC75EA-E324-42A3-9D13-E95E2C44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829425"/>
            <a:ext cx="6362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Shared map with independent odometry and TF trees</a:t>
            </a:r>
          </a:p>
        </p:txBody>
      </p:sp>
    </p:spTree>
    <p:extLst>
      <p:ext uri="{BB962C8B-B14F-4D97-AF65-F5344CB8AC3E}">
        <p14:creationId xmlns:p14="http://schemas.microsoft.com/office/powerpoint/2010/main" val="14137032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50c7d4e5e40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0675D-A48B-46BB-A363-9CD0EDF1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6019F-A800-431F-BCF8-EC86A676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56750-5818-435E-BE2C-19F9E302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857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E88A5-4721-4089-BDA2-9C498983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第一周：双车基础与网络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23AB9-9515-4947-A668-CA8D5382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Week 1: Dual-Robot Bring-up and Networking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FD79D-09DE-4A8D-AA6B-1EADCB7D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20967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DD3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D6BBF-561F-4ACD-90BB-2F4BA69A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4FB18-472D-42D1-93B8-EB6605BD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098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ED8AA-E95F-4461-BEF7-AF47A3C9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6222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设备清点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FFB32-BCBF-4471-BF18-9CCD5D3C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6702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Hardware inventory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B7EE0-F05B-476E-AA14-E57A0445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85806-10D1-4189-9857-C3BDFE90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98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D5238-1764-4B9A-ADDC-416E11B5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62225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分别复现单车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951B4-0A64-4AD3-908C-8E589D65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6702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Reproduce each robot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AC093-0FCA-499B-8808-1F1C7653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948E2-2FAB-4C46-8466-3F46B5A4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098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8821EC-F5FC-4658-94D5-A99817BA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56222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桥接网络与固定 IP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17CF9-0B0B-4869-9651-181BB35B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67025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Bridged network and static IPs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B0BE8-191B-43BF-B4EB-B791CB25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F35296-473B-4923-B970-854AEF64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6098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8A96BF-28B6-48A1-9EE3-32257787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256222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公共 Master 与同步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B1ECF-AB49-4D10-887A-F85C4F62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2867025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Shared master and clock sync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6929DE-1E70-41EB-8073-FA20B3D8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4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检查项目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7244C0-5E1E-4CB3-8722-2F0C306E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72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49FCE8-22AF-4378-938B-6EF2258E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05400"/>
            <a:ext cx="539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底盘、IMU、/odom、/scan 连续发布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515A65-3514-44FC-87FB-511C44B5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00675"/>
            <a:ext cx="539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Continuous chassis, IMU, odometry and LiDAR topics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1D253B-FAD5-4E7E-BA2C-E25F7B73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00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E7F182-0640-4B69-B64A-2E15ED35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34075"/>
            <a:ext cx="539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三台系统相互可达，时间偏差可记录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3AA157-6C50-4FFB-94C7-F62A025F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29350"/>
            <a:ext cx="539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All machines communicate and clock offset is measured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F5D59E-A232-44F7-8EB3-C81BC5DF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72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BDB9F5-0DA9-4AFD-A590-B6EAB50C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05400"/>
            <a:ext cx="5200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保存两份单车基线 rosbag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B47DB-82A3-4C8D-99AB-0777722C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00675"/>
            <a:ext cx="520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Record one baseline rosbag for each robot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FA64E2-20F0-479F-A3F7-F0E05156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00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7FCA41-3302-441A-8729-BBDD143B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934075"/>
            <a:ext cx="5200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记录 IP、串口、频率和 frame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F0FC9C-96E4-4A34-938B-93BBF155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229350"/>
            <a:ext cx="520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Document IPs, ports, rates and frame IDs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6D719D-6B0E-4E28-B439-B110D6B4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24700"/>
            <a:ext cx="1371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98D466-F84F-4EA7-838F-AB7C94F3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0090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验收：两辆车均可单独稳定运行 10 分钟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8566A7-DCF0-4E8B-813B-28E21FC6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219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Exit criterion: each robot runs alone for 10 minutes</a:t>
            </a:r>
          </a:p>
        </p:txBody>
      </p:sp>
    </p:spTree>
    <p:extLst>
      <p:ext uri="{BB962C8B-B14F-4D97-AF65-F5344CB8AC3E}">
        <p14:creationId xmlns:p14="http://schemas.microsoft.com/office/powerpoint/2010/main" val="20773046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fa13a83f64e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58D41-F8B6-4329-996A-3B77CFA9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1EACD-F24B-435B-AD11-AF256C42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0CAE0-CB03-4589-A05A-2DD2BC56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857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61170-8212-4CAD-87BC-AFD28945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第二周：命名空间、TF 与独立定位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1EB71-195B-4735-B7A7-364D73DF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Week 2: Namespaces, TF and Independent Localization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E738C-51AA-453C-8AD4-75024DCD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话题隔离 / TOPIC ISOLATION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6CC6E-27E0-4C55-B876-AE5E6F36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619125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DD3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A0394-5261-4B79-AB6B-3FB1FDA7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24175"/>
            <a:ext cx="23336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/car1/cmd_vel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/car1/odom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/car1/imu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/car1/scan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8F2DD-E9D5-467F-A746-355B007D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57500"/>
            <a:ext cx="1905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DD3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C4A14-906A-493A-9012-711F1E0F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24175"/>
            <a:ext cx="23336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/car2/cmd_vel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/car2/odom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/car2/imu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/car2/scan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B0B1A-66C8-44E1-8EDA-B5BE83CA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双 TF 树 / TWO TF TREES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75166-F751-4D23-837E-FE73084B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90800"/>
            <a:ext cx="619125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9525">
            <a:solidFill>
              <a:srgbClr val="49A8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66DAC-2462-43CC-B32D-AF7055CD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81940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6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35743-614E-4663-BA05-CBB97040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257550"/>
            <a:ext cx="1905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DD3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D60FC-348E-49BA-B626-CC32D23A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28575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DD3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B4739-1962-457A-9040-E348EAF8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190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8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2DF01-BFEB-495C-901F-D24A92F4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24250"/>
            <a:ext cx="190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00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A3019-53F2-44F1-999D-EBFBF988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528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car1/odom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9C9DE7-EC1D-4875-95D1-A91A182A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7528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car2/odom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BE4EBB-E79B-4FF6-AF62-F8BA20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00525"/>
            <a:ext cx="1905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8B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EA199-B2C9-4B25-A0B2-692EAE11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200525"/>
            <a:ext cx="1905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003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C625D3-201F-4ED8-B983-C29E6DEF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958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car1/base_link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B4DBD8-7A0C-4CBF-AF5E-6368BB89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958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car2/base_link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4E2B00-DCA3-4476-9306-CB6F0A69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57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2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两套 AMCL 在同一地图中独立定位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E87B10-EDDF-4839-A3CC-D25B464F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5435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Two AMCL instances localize independently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157A09-1350-4DF2-BF06-B49C7C8A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76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0F0CF9-947C-4B53-81C5-439EFAF5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210300"/>
            <a:ext cx="5819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分别发送速度指令，只允许目标车辆响应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0DC738-0F94-4CBD-AB02-FBA6C99E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505575"/>
            <a:ext cx="581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Command isolation verified for both robots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2BB4DC-1F8A-4CF0-B0FD-E97128E9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276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4272BB-BA27-45EC-B886-913D59CD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210300"/>
            <a:ext cx="539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RViz 同时显示两车轨迹，TF 无冲突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63257F-13EE-4EB4-B390-30A162CF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05575"/>
            <a:ext cx="539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Both trajectories visible in RViz without TF conflicts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AC4B6B-004E-46F2-9022-11A6D8B3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24700"/>
            <a:ext cx="1371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2A7E70-5C8E-4467-8E0A-DAE284C5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0090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验收：双车同时运行，任一车辆重启不影响另一辆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F19005-BE00-40FB-A5E4-ABA19E14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219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Exit criterion: independent operation and restart</a:t>
            </a:r>
          </a:p>
        </p:txBody>
      </p:sp>
    </p:spTree>
    <p:extLst>
      <p:ext uri="{BB962C8B-B14F-4D97-AF65-F5344CB8AC3E}">
        <p14:creationId xmlns:p14="http://schemas.microsoft.com/office/powerpoint/2010/main" val="3810927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43d2bcc7d45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60F39-0B31-4A45-A0A0-7E643B07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BE090-B909-42D2-BE0F-0EDFDF28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12399-3208-4CE2-AF26-366BD15D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857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216DF-900A-4BD2-8875-F28D3AFA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第三周：UWB 接入与标定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AC25A-EBAA-4B01-82F7-95C7898D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Week 3: UWB Integration and Calibration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FA7A4-7C31-45FC-9629-5118B677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4286250" cy="4238625"/>
          </a:xfrm>
          <a:prstGeom xmlns:a="http://schemas.openxmlformats.org/drawingml/2006/main" prst="roundRect">
            <a:avLst>
              <a:gd name="adj" fmla="val 3596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DD3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DC295-7CDB-42CB-B3F2-2675ABE5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30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接口准备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53B12-9E1C-4FC1-9DB9-F0B25D7E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57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FB3C3-EE70-4E94-920E-790B5B4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90850"/>
            <a:ext cx="339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唯一节点 ID 和固定串口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FBD27-DEA2-4740-87D8-253D9C36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861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91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Unique node IDs and stable device 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33534-D563-4FB1-9C92-C630194D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86673-C82D-4872-9F3D-985A64DE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7625"/>
            <a:ext cx="339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带时间戳的距离消息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B111E-E0A7-4B4C-9C35-C3494A7E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Timestamped range messages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01BCD-2919-4BB3-A3D9-95120671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B15E2-A5E4-4E17-AE12-2403180A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24400"/>
            <a:ext cx="339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base_link 到 uwb_link 外参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63695-1A55-4150-8731-4D425117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196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83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Extrinsic transform from base_link to uwb_link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7F19A-B395-4D0C-9B75-D868C3ED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29300E-F1AB-404F-8304-0A93E9E0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91175"/>
            <a:ext cx="339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频率、延迟和丢包统计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C0640E-1D70-4A9F-AFD0-56EEE85E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864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Rate, latency and packet-loss statistics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C1FE25-72B5-465C-8D10-DB1CB759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30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标定矩阵</a:t>
            </a:r>
          </a:p>
        </p:txBody>
      </p:sp>
      <p:graphicFrame>
        <p:nvGraphicFramePr>
          <p:cNvPr id="50" name=""/>
          <p:cNvGraphicFramePr/>
          <p:nvPr/>
        </p:nvGraphicFramePr>
        <p:xfrm>
          <a:off xmlns:a="http://schemas.openxmlformats.org/drawingml/2006/main" x="5810250" y="2724150"/>
          <a:ext xmlns:a="http://schemas.openxmlformats.org/drawingml/2006/main" cx="8096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8958"/>
                <a:gridCol w="1799167"/>
                <a:gridCol w="1799167"/>
                <a:gridCol w="2248958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Condition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静止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Static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运动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Moving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Output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无遮挡 / LOS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偏差与标准差</a:t>
                      </a:r>
                    </a:p>
                  </a:txBody>
                  <a:tcPr marL="76200" marR="76200" marT="38100" marB="38100" anchor="ctr"/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人体遮挡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异常值比例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车体遮挡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丢包与延迟</a:t>
                      </a:r>
                    </a:p>
                  </a:txBody>
                  <a:tcPr marL="76200" marR="76200" marT="38100" marB="38100" anchor="ctr"/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多距离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已知真值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低速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误差模型</a:t>
                      </a:r>
                    </a:p>
                  </a:txBody>
                  <a:tcPr marL="76200" marR="76200" marT="38100" marB="38100" anchor="ctr">
                    <a:solidFill>
                      <a:srgbClr val="EFF6FA"/>
                    </a:solidFill>
                  </a:tcPr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C65761-0372-4D8F-914C-5142B2CF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96000"/>
            <a:ext cx="8096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11430">
            <a:solidFill>
              <a:srgbClr val="E9B6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028E1-CBB3-46B1-BC6E-4A9AD40D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19125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rPr>
              <a:t>一条车间距离只能提供一个标量约束，不能单独确定两车的二维位置与航向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32BAC4-60BB-48AC-9AB1-0B274BA8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486525"/>
            <a:ext cx="752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135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0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rPr>
              <a:t>A single inter-robot range cannot determine both 2D poses and headings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C7F25C-07DD-483D-8E7D-B4DA58A5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24700"/>
            <a:ext cx="1371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13B4C6-A84F-4904-96CA-199C774F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0090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验收：形成 UWB 误差统计和稳定 ROS 话题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149DDF-C3B1-425C-82D2-E91837AE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219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Exit criterion: calibrated ranging and stable ROS data</a:t>
            </a:r>
          </a:p>
        </p:txBody>
      </p:sp>
    </p:spTree>
    <p:extLst>
      <p:ext uri="{BB962C8B-B14F-4D97-AF65-F5344CB8AC3E}">
        <p14:creationId xmlns:p14="http://schemas.microsoft.com/office/powerpoint/2010/main" val="17421972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39ffb9fa447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B6F82-30D1-4010-A768-39D6183F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0320B-5E08-4647-935E-6A4A3026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DBD0F-5397-47E6-8507-AFAA5CAC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857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7B6B0-9AFC-407B-B079-899D0A5A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第四周：协同融合与在线演示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737F0-8799-4643-AEB3-24608E32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Week 4: Cooperative Fusion and Online Demonstration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29237-7328-4E33-A69C-242C0FC1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857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BDD3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0B637-0E2E-41EC-AE0A-CEB96E2A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95550"/>
            <a:ext cx="2857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11430">
            <a:solidFill>
              <a:srgbClr val="0078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8830B-0C2C-40D6-9553-6A14AEEE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2857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11430">
            <a:solidFill>
              <a:srgbClr val="0078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025F0-B9DB-4D15-BF80-AE8CA910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495550"/>
            <a:ext cx="2857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CEFF3"/>
          </a:solidFill>
          <a:ln xmlns:a="http://schemas.openxmlformats.org/drawingml/2006/main" w="11430">
            <a:solidFill>
              <a:srgbClr val="B600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6D894-9201-4A04-9D98-FD281AA4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1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同步 rosbag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5B274-9700-4E56-A04C-6571FAC6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Synchronized datasets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41F7C-8548-4C3A-B96A-45E5569F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051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1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离线融合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511D6-F08E-4682-911A-287E4EF4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05150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Offline fusion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95C9F-887F-4125-A671-12650966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051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1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异常值处理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F9D9C-84C7-4780-9B8B-1C59C229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Outlier handling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E6F4C-503B-4ABE-8E5E-EA2A1B65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27051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1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在线节点与演示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FD1AE-B294-43A1-BF8B-24CD5507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3105150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Online node and demo</a:t>
            </a:r>
          </a:p>
        </p:txBody>
      </p: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14750" y="32099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8B5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286625" y="32099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8B5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858500" y="32099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60032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947D0-2F3B-4A7C-9EAF-6FA43205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38675"/>
            <a:ext cx="120015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AE423D-5B73-44A6-87D6-60772460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19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rPr>
              <a:t>观测模型 / Measurement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0F4759-237A-46D3-BD54-73631E6E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48275"/>
            <a:ext cx="4143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z₁₂ = ‖p₁ − p₂‖ + 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3A1553-C0E6-44B9-A0B4-A21E2E8E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1905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819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16B45F-FABA-44D1-94E7-ECB8D813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38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rPr>
              <a:t>第一版方法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D9918C-412C-4C86-B4E0-C0E5196B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38750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1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集中式 EKF 或小型因子图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先离线复现，再转为实时节点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26DF76-4523-4E06-81F2-A7D19372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8483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Centralized EKF or a compact factor graph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Validate offline before real-time deployment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8265B6-D5B5-4F26-8A45-ACE0A8FA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24700"/>
            <a:ext cx="1371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CAD86D-5CEE-4E3B-9530-2CBA799B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0090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验收：RViz 实时显示两车轨迹、UWB 距离和融合状态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B18E0-DD4A-41A1-BAEE-3011B91A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219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Exit criterion: a repeatable live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20026544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772b042c74e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28411-1A62-417C-94BA-1221BA39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6DD36-707F-44CD-AF11-83D971DE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F6874-2AFE-4C26-BA95-EF5B637B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857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35590-ABEF-4985-8EF3-98870FF3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实验场景与评价指标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8498F-ED93-43EE-AB8E-37082395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Test Scenarios and Evaluation Metrics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39065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04129"/>
                <a:gridCol w="3352460"/>
                <a:gridCol w="3600790"/>
                <a:gridCol w="3849121"/>
              </a:tblGrid>
              <a:tr h="680357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Scenario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验证目的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Purpose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对比方法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Comparison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主要指标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Metrics</a:t>
                      </a:r>
                    </a:p>
                  </a:txBody>
                  <a:tcPr marL="76200" marR="76200" marT="47625" marB="47625" anchor="ctr">
                    <a:solidFill>
                      <a:srgbClr val="123F63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两车静止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Static robots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UWB 偏差与稳定性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Range bias and stability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原始与标定后 UWB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Raw vs calibrated UWB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均值、标准差、丢包率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Mean, SD, packet loss</a:t>
                      </a:r>
                    </a:p>
                  </a:txBody>
                  <a:tcPr marL="95250" marR="76200" marT="38100" marB="38100" anchor="ctr"/>
                </a:tc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一静一动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One robot moving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时间同步与动态延迟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Clock sync and latency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里程计、IMU、UWB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Odometry, IMU and UWB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距离残差、延迟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Range residual, latency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平行运动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Parallel motion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弱几何下的约束效果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Constraint under weak geometry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独立定位与协同融合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Independent vs cooperative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ATE、RPE、车间误差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ATE, RPE, relative error</a:t>
                      </a:r>
                    </a:p>
                  </a:txBody>
                  <a:tcPr marL="95250" marR="76200" marT="38100" marB="38100" anchor="ctr"/>
                </a:tc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交叉运动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Crossing paths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几何变化与在线稳定性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Changing geometry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 UWB 与加入 UWB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Without vs with UWB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RMSE、轨迹连续性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RMSE, continuity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遮挡与丢包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Occlusion and dropout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鲁棒性与恢复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Robustness and recovery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普通融合与异常值处理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Plain vs robust fusion</a:t>
                      </a:r>
                    </a:p>
                  </a:txBody>
                  <a:tcPr marL="9525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异常率、恢复时间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Outlier rate, recovery time</a:t>
                      </a:r>
                    </a:p>
                  </a:txBody>
                  <a:tcPr marL="95250" marR="76200" marT="38100" marB="38100" anchor="ctr"/>
                </a:tc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闭环返回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Loop return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累计漂移与可重复性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Drift and repeatability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多次重复实验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Repeated trials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终点误差、运行频率</a:t>
                      </a:r>
                    </a:p>
                    <a:p>
                      <a:pPr algn="l"/>
                      <a:r>
                        <a:rPr sz="126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End error, update rate</a:t>
                      </a:r>
                    </a:p>
                  </a:txBody>
                  <a:tcPr marL="95250" marR="76200" marT="38100" marB="38100" anchor="ctr">
                    <a:solidFill>
                      <a:srgbClr val="EFF6FA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BDB22-2196-4F9A-BB09-F33F8392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086600"/>
            <a:ext cx="1152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性能改善属于待验证结果，月底汇报同时呈现有效情况和失败情况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06754-0CA4-402E-BC2A-DA8A30C8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381875"/>
            <a:ext cx="1152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Any performance gain remains an experimental finding, including failure cases</a:t>
            </a:r>
          </a:p>
        </p:txBody>
      </p:sp>
    </p:spTree>
    <p:extLst>
      <p:ext uri="{BB962C8B-B14F-4D97-AF65-F5344CB8AC3E}">
        <p14:creationId xmlns:p14="http://schemas.microsoft.com/office/powerpoint/2010/main" val="11354853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bb0fb7bb149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D3A1C-EAFB-4FF3-B539-7C261112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E4C84-8D46-4712-8462-2F88E1FB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66D28-3D62-4B7F-8114-B140CC26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857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EEB3F-31C0-49AD-B59C-312FB9A2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月底预期成果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A9C73-07E7-4B1F-A81D-60916D56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Expected Outcomes by the End of the Month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85FD6-BF3F-4509-BAAD-DDD2CE38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146E5-B965-4ED7-BC02-B2F30E99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432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初步达成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9263D-17C4-49AD-A761-138E94B3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147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rPr>
              <a:t>INITIAL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rPr>
              <a:t>MILESTONE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0F91B-5ECC-4EE3-BD5A-19F53D1F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31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可重复的双车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协同定位演示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AEC5A-C1A4-425E-862B-ACC0B901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095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DD3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EDC22-8380-4BB5-BBBA-BAD40A50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4792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代码与配置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07F6E-B054-4415-83C9-856232C4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62275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44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双车 launch、命名空间、TF、EKF/UWB 参数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Dual-robot launch files, TF and fusion configs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12FD7-9C64-4B1B-840B-77754242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47900"/>
            <a:ext cx="4095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9525">
            <a:solidFill>
              <a:srgbClr val="0078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A8172-BADD-484F-AFEE-DD4A7235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44792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数据与评估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D68C2-DD68-4DF4-A6ED-49C05FBC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62275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同步 rosbag、UWB 标定统计、轨迹对比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Synchronized bags, calibration and trajectory comparison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F16E5-5CDC-4748-B099-07D0C3DD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4095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9525">
            <a:solidFill>
              <a:srgbClr val="0078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193C45-E61F-473A-9D57-015FF22B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6252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演示与记录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D8D36-E623-4C51-A090-D3CA9181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76875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RViz 实时展示、运行说明、问题清单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RViz demo, reproduction notes and issue 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F45A0-356E-4713-B7EA-DDC44F8C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762500"/>
            <a:ext cx="4095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E9B6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80F8CE-8B5D-4BA4-8C79-24121DE1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6252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rPr>
              <a:t>明确边界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61041C-8715-4750-921A-192F55CE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476875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rPr>
              <a:t>记录不可观条件、UWB 失效和未解决问题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6580E"/>
                </a:solidFill>
                <a:latin typeface="Microsoft YaHei"/>
                <a:ea typeface="Microsoft YaHei"/>
                <a:cs typeface="Microsoft YaHei"/>
              </a:rPr>
              <a:t>Document unobservable cases, failures and open issues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BCA3B-34B9-4CCB-BE5E-D11E98E4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24700"/>
            <a:ext cx="1371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1DBC40-2B8D-4E34-943D-F5E12BB4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0090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本月成果定位：可运行、可测量、可复现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EB221A-8762-4139-B1F3-36E94991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219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Monthly outcome: runnable, measurable and reproducible</a:t>
            </a:r>
          </a:p>
        </p:txBody>
      </p:sp>
    </p:spTree>
    <p:extLst>
      <p:ext uri="{BB962C8B-B14F-4D97-AF65-F5344CB8AC3E}">
        <p14:creationId xmlns:p14="http://schemas.microsoft.com/office/powerpoint/2010/main" val="7445923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7a3ad5f944d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C437E-8469-4647-BD6C-5C54A0F8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C6CC9-CE9E-4E00-9E35-03E06DEF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24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Page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45539-85FD-4E8D-B18D-147A98B4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857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227BE-F19C-46CA-95A5-8A10648C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后续研究路线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52722-8F29-48A0-BE70-4D7EE51C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B5"/>
                </a:solidFill>
                <a:latin typeface="Microsoft YaHei"/>
                <a:ea typeface="Microsoft YaHei"/>
                <a:cs typeface="Microsoft YaHei"/>
              </a:rPr>
              <a:t>Follow-on Research 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15662-3440-4EE6-984E-748CC65F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阶段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128CB-E4A4-4FF8-8A0C-1D0097DE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地面平台完善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E393A-A156-4884-9AE9-8A568B69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05125"/>
            <a:ext cx="342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Ground-platform refinement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5E57F-A72F-40CB-9FFB-792B5592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37147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DD3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DFA2E-A7B7-472E-B620-03B4FBDF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81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FA283-A667-4ADD-8AFA-AC6E1496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扩展视觉或激光定位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4C78F-0CE3-4588-A8E7-D485007D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002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Add visual or LiDAR localization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8CB1E-889A-4DAA-9B69-C58908B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130CF-4573-43C1-BDB1-FD79B847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研究遮挡与通信中断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14F1B-6EDA-450C-A1A3-4169A676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9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0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Study occlusion and communication loss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0876D-7C15-4A4D-BEF9-AF454C0A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76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阶段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84AC31-0258-4ADB-9B35-A621DD8D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574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Unreal 月面迁移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570ED2-72A3-4849-9E94-BE38C22A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05125"/>
            <a:ext cx="381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Migration to a lunar Unreal scene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41371-2B9C-4884-AC42-5BA54E46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9950"/>
            <a:ext cx="37147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9525">
            <a:solidFill>
              <a:srgbClr val="0078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353126-CC7A-4CB2-95CC-DD1FF045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81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9CDB8-2453-45E5-928C-3DE34CDD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复现传感器接口和时间戳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19857E-86BA-4472-A2E3-E4BF2B82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09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Replicate sensor interfaces and timing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318EB-79BD-40A5-AAF1-43532517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91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E972F9-70DE-4B49-AC36-18CE83C3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加入光照、地形和打滑退化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09172C-E530-4898-9E94-8F0ABE9D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9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3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Add lighting, terrain and slip degradation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8B3B99-1E15-47DF-98EF-FCDF9492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76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60032"/>
                </a:solidFill>
                <a:latin typeface="Microsoft YaHei"/>
                <a:ea typeface="Microsoft YaHei"/>
                <a:cs typeface="Microsoft YaHei"/>
              </a:rPr>
              <a:t>阶段 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07BA85-A261-4AEA-9F50-B05E7303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574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F63"/>
                </a:solidFill>
                <a:latin typeface="Microsoft YaHei"/>
                <a:ea typeface="Microsoft YaHei"/>
                <a:cs typeface="Microsoft YaHei"/>
              </a:rPr>
              <a:t>月球 PNT 研究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9AC523-17E3-4397-95ED-197956CE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05125"/>
            <a:ext cx="342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Lunar PNT research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B95A9C-15F7-41AF-8F09-8EB790FB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409950"/>
            <a:ext cx="37147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CEFF3"/>
          </a:solidFill>
          <a:ln xmlns:a="http://schemas.openxmlformats.org/drawingml/2006/main" w="9525">
            <a:solidFill>
              <a:srgbClr val="B600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2E52DB-FA28-45A1-8930-6697EA87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781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93961C-2C2E-4B03-9B7A-AD533F27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接入稀疏月球卫星测距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C9DCAF-8FFE-4807-A9D0-257A7276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1002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89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Introduce sparse lunar satellite ranging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9AE299-E3FB-4A28-A380-24BD247A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003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D9D87D-D8AB-4395-B56C-75CA02CA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24375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2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比较 DEM、视觉和 PNT 互补性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671929-343C-4EF1-83FC-EA12FB58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19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19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Compare DEM, vision and PNT constraints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AD459E-0F1F-4F4F-B9F2-23CD093E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76750"/>
            <a:ext cx="1000125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8B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8A6842-EC67-4B22-BC18-B1A787D3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76750"/>
            <a:ext cx="1000125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6003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3F1F42-B397-4A4A-A2FC-0DC371E9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048375"/>
            <a:ext cx="105156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3F63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26E563-EA71-4C1B-B045-8D43FD7F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172200"/>
            <a:ext cx="994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后续选题依据：本月实验揭示的误差模式、不可观条件和传感器互补关系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6D6727-DC92-4FB0-8A4E-2AEFDB13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524625"/>
            <a:ext cx="994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9A8CF"/>
                </a:solidFill>
                <a:latin typeface="Microsoft YaHei"/>
                <a:ea typeface="Microsoft YaHei"/>
                <a:cs typeface="Microsoft YaHei"/>
              </a:rPr>
              <a:t>Topic selection will follow measured failure modes, observability and sensor complementarity</a:t>
            </a:r>
          </a:p>
        </p:txBody>
      </p:sp>
    </p:spTree>
    <p:extLst>
      <p:ext uri="{BB962C8B-B14F-4D97-AF65-F5344CB8AC3E}">
        <p14:creationId xmlns:p14="http://schemas.microsoft.com/office/powerpoint/2010/main" val="1600335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2026-09-14T12:05:20.8710000Z</dcterms:created>
  <dcterms:modified xsi:type="dcterms:W3CDTF">2026-09-14T12:05:20.8710000Z</dcterms:modified>
</coreProperties>
</file>